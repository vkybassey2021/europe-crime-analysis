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sldIdLst>
    <p:sldId id="256" r:id="rId2"/>
    <p:sldId id="257" r:id="rId3"/>
    <p:sldId id="267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8B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59" autoAdjust="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1692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ia Okure" userId="36ddee6aaed672d5" providerId="LiveId" clId="{64088708-CC31-4D90-99C4-20CCC874ECBC}"/>
    <pc:docChg chg="custSel addSld delSld modSld">
      <pc:chgData name="Victoria Okure" userId="36ddee6aaed672d5" providerId="LiveId" clId="{64088708-CC31-4D90-99C4-20CCC874ECBC}" dt="2026-04-14T14:17:42.372" v="183" actId="255"/>
      <pc:docMkLst>
        <pc:docMk/>
      </pc:docMkLst>
      <pc:sldChg chg="add del">
        <pc:chgData name="Victoria Okure" userId="36ddee6aaed672d5" providerId="LiveId" clId="{64088708-CC31-4D90-99C4-20CCC874ECBC}" dt="2026-04-14T13:48:41.790" v="1"/>
        <pc:sldMkLst>
          <pc:docMk/>
          <pc:sldMk cId="0" sldId="256"/>
        </pc:sldMkLst>
      </pc:sldChg>
      <pc:sldChg chg="modSp mod">
        <pc:chgData name="Victoria Okure" userId="36ddee6aaed672d5" providerId="LiveId" clId="{64088708-CC31-4D90-99C4-20CCC874ECBC}" dt="2026-04-14T14:16:10.959" v="177" actId="14100"/>
        <pc:sldMkLst>
          <pc:docMk/>
          <pc:sldMk cId="0" sldId="258"/>
        </pc:sldMkLst>
        <pc:spChg chg="mod">
          <ac:chgData name="Victoria Okure" userId="36ddee6aaed672d5" providerId="LiveId" clId="{64088708-CC31-4D90-99C4-20CCC874ECBC}" dt="2026-04-14T14:16:02.642" v="176" actId="1076"/>
          <ac:spMkLst>
            <pc:docMk/>
            <pc:sldMk cId="0" sldId="258"/>
            <ac:spMk id="3" creationId="{00000000-0000-0000-0000-000000000000}"/>
          </ac:spMkLst>
        </pc:spChg>
        <pc:graphicFrameChg chg="mod">
          <ac:chgData name="Victoria Okure" userId="36ddee6aaed672d5" providerId="LiveId" clId="{64088708-CC31-4D90-99C4-20CCC874ECBC}" dt="2026-04-14T14:16:10.959" v="177" actId="14100"/>
          <ac:graphicFrameMkLst>
            <pc:docMk/>
            <pc:sldMk cId="0" sldId="258"/>
            <ac:graphicFrameMk id="8" creationId="{00000000-0000-0000-0000-000000000000}"/>
          </ac:graphicFrameMkLst>
        </pc:graphicFrameChg>
      </pc:sldChg>
      <pc:sldChg chg="modSp mod">
        <pc:chgData name="Victoria Okure" userId="36ddee6aaed672d5" providerId="LiveId" clId="{64088708-CC31-4D90-99C4-20CCC874ECBC}" dt="2026-04-14T14:16:46.096" v="182" actId="20577"/>
        <pc:sldMkLst>
          <pc:docMk/>
          <pc:sldMk cId="0" sldId="259"/>
        </pc:sldMkLst>
        <pc:spChg chg="mod">
          <ac:chgData name="Victoria Okure" userId="36ddee6aaed672d5" providerId="LiveId" clId="{64088708-CC31-4D90-99C4-20CCC874ECBC}" dt="2026-04-14T14:16:46.096" v="182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Victoria Okure" userId="36ddee6aaed672d5" providerId="LiveId" clId="{64088708-CC31-4D90-99C4-20CCC874ECBC}" dt="2026-04-14T14:03:04.249" v="35" actId="14100"/>
        <pc:sldMkLst>
          <pc:docMk/>
          <pc:sldMk cId="0" sldId="262"/>
        </pc:sldMkLst>
        <pc:spChg chg="mod">
          <ac:chgData name="Victoria Okure" userId="36ddee6aaed672d5" providerId="LiveId" clId="{64088708-CC31-4D90-99C4-20CCC874ECBC}" dt="2026-04-14T14:03:04.249" v="35" actId="14100"/>
          <ac:spMkLst>
            <pc:docMk/>
            <pc:sldMk cId="0" sldId="262"/>
            <ac:spMk id="9" creationId="{00000000-0000-0000-0000-000000000000}"/>
          </ac:spMkLst>
        </pc:spChg>
      </pc:sldChg>
      <pc:sldChg chg="modSp mod">
        <pc:chgData name="Victoria Okure" userId="36ddee6aaed672d5" providerId="LiveId" clId="{64088708-CC31-4D90-99C4-20CCC874ECBC}" dt="2026-04-14T14:17:42.372" v="183" actId="255"/>
        <pc:sldMkLst>
          <pc:docMk/>
          <pc:sldMk cId="0" sldId="264"/>
        </pc:sldMkLst>
        <pc:spChg chg="mod">
          <ac:chgData name="Victoria Okure" userId="36ddee6aaed672d5" providerId="LiveId" clId="{64088708-CC31-4D90-99C4-20CCC874ECBC}" dt="2026-04-14T14:17:42.372" v="183" actId="255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Victoria Okure" userId="36ddee6aaed672d5" providerId="LiveId" clId="{64088708-CC31-4D90-99C4-20CCC874ECBC}" dt="2026-04-14T14:14:35.509" v="173" actId="255"/>
        <pc:sldMkLst>
          <pc:docMk/>
          <pc:sldMk cId="1901476773" sldId="265"/>
        </pc:sldMkLst>
        <pc:spChg chg="mod">
          <ac:chgData name="Victoria Okure" userId="36ddee6aaed672d5" providerId="LiveId" clId="{64088708-CC31-4D90-99C4-20CCC874ECBC}" dt="2026-04-14T14:14:16.329" v="172" actId="255"/>
          <ac:spMkLst>
            <pc:docMk/>
            <pc:sldMk cId="1901476773" sldId="265"/>
            <ac:spMk id="3" creationId="{00000000-0000-0000-0000-000000000000}"/>
          </ac:spMkLst>
        </pc:spChg>
        <pc:spChg chg="mod">
          <ac:chgData name="Victoria Okure" userId="36ddee6aaed672d5" providerId="LiveId" clId="{64088708-CC31-4D90-99C4-20CCC874ECBC}" dt="2026-04-14T14:14:35.509" v="173" actId="255"/>
          <ac:spMkLst>
            <pc:docMk/>
            <pc:sldMk cId="1901476773" sldId="265"/>
            <ac:spMk id="4" creationId="{00000000-0000-0000-0000-000000000000}"/>
          </ac:spMkLst>
        </pc:spChg>
        <pc:spChg chg="mod">
          <ac:chgData name="Victoria Okure" userId="36ddee6aaed672d5" providerId="LiveId" clId="{64088708-CC31-4D90-99C4-20CCC874ECBC}" dt="2026-04-14T14:13:43.180" v="171" actId="20577"/>
          <ac:spMkLst>
            <pc:docMk/>
            <pc:sldMk cId="1901476773" sldId="265"/>
            <ac:spMk id="10" creationId="{00000000-0000-0000-0000-000000000000}"/>
          </ac:spMkLst>
        </pc:spChg>
      </pc:sldChg>
      <pc:sldChg chg="modSp mod">
        <pc:chgData name="Victoria Okure" userId="36ddee6aaed672d5" providerId="LiveId" clId="{64088708-CC31-4D90-99C4-20CCC874ECBC}" dt="2026-04-14T14:15:42.854" v="175" actId="255"/>
        <pc:sldMkLst>
          <pc:docMk/>
          <pc:sldMk cId="0" sldId="266"/>
        </pc:sldMkLst>
        <pc:spChg chg="mod">
          <ac:chgData name="Victoria Okure" userId="36ddee6aaed672d5" providerId="LiveId" clId="{64088708-CC31-4D90-99C4-20CCC874ECBC}" dt="2026-04-14T14:15:42.854" v="175" actId="255"/>
          <ac:spMkLst>
            <pc:docMk/>
            <pc:sldMk cId="0" sldId="266"/>
            <ac:spMk id="3" creationId="{00000000-0000-0000-0000-000000000000}"/>
          </ac:spMkLst>
        </pc:spChg>
        <pc:spChg chg="mod">
          <ac:chgData name="Victoria Okure" userId="36ddee6aaed672d5" providerId="LiveId" clId="{64088708-CC31-4D90-99C4-20CCC874ECBC}" dt="2026-04-14T14:02:03.459" v="31" actId="20577"/>
          <ac:spMkLst>
            <pc:docMk/>
            <pc:sldMk cId="0" sldId="266"/>
            <ac:spMk id="23" creationId="{00000000-0000-0000-0000-000000000000}"/>
          </ac:spMkLst>
        </pc:spChg>
      </pc:sldChg>
      <pc:sldChg chg="modSp mod">
        <pc:chgData name="Victoria Okure" userId="36ddee6aaed672d5" providerId="LiveId" clId="{64088708-CC31-4D90-99C4-20CCC874ECBC}" dt="2026-04-14T14:15:34.642" v="174" actId="255"/>
        <pc:sldMkLst>
          <pc:docMk/>
          <pc:sldMk cId="0" sldId="267"/>
        </pc:sldMkLst>
        <pc:spChg chg="mod">
          <ac:chgData name="Victoria Okure" userId="36ddee6aaed672d5" providerId="LiveId" clId="{64088708-CC31-4D90-99C4-20CCC874ECBC}" dt="2026-04-14T14:15:34.642" v="174" actId="255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Raw Crime Value</c:v>
          </c:tx>
          <c:invertIfNegative val="0"/>
          <c:dPt>
            <c:idx val="0"/>
            <c:invertIfNegative val="0"/>
            <c:bubble3D val="0"/>
            <c:spPr>
              <a:solidFill>
                <a:srgbClr val="7FB3D8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35-652E-40DD-A971-F9333FA33C09}"/>
              </c:ext>
            </c:extLst>
          </c:dPt>
          <c:dPt>
            <c:idx val="1"/>
            <c:invertIfNegative val="0"/>
            <c:bubble3D val="0"/>
            <c:spPr>
              <a:solidFill>
                <a:srgbClr val="7BAED3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33-652E-40DD-A971-F9333FA33C09}"/>
              </c:ext>
            </c:extLst>
          </c:dPt>
          <c:dPt>
            <c:idx val="2"/>
            <c:invertIfNegative val="0"/>
            <c:bubble3D val="0"/>
            <c:spPr>
              <a:solidFill>
                <a:srgbClr val="76A8C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31-652E-40DD-A971-F9333FA33C09}"/>
              </c:ext>
            </c:extLst>
          </c:dPt>
          <c:dPt>
            <c:idx val="3"/>
            <c:invertIfNegative val="0"/>
            <c:bubble3D val="0"/>
            <c:spPr>
              <a:solidFill>
                <a:srgbClr val="72A3C8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F-652E-40DD-A971-F9333FA33C09}"/>
              </c:ext>
            </c:extLst>
          </c:dPt>
          <c:dPt>
            <c:idx val="4"/>
            <c:invertIfNegative val="0"/>
            <c:bubble3D val="0"/>
            <c:spPr>
              <a:solidFill>
                <a:srgbClr val="6E9EC3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D-652E-40DD-A971-F9333FA33C09}"/>
              </c:ext>
            </c:extLst>
          </c:dPt>
          <c:dPt>
            <c:idx val="5"/>
            <c:invertIfNegative val="0"/>
            <c:bubble3D val="0"/>
            <c:spPr>
              <a:solidFill>
                <a:srgbClr val="6999B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B-652E-40DD-A971-F9333FA33C09}"/>
              </c:ext>
            </c:extLst>
          </c:dPt>
          <c:dPt>
            <c:idx val="6"/>
            <c:invertIfNegative val="0"/>
            <c:bubble3D val="0"/>
            <c:spPr>
              <a:solidFill>
                <a:srgbClr val="6593B8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9-652E-40DD-A971-F9333FA33C09}"/>
              </c:ext>
            </c:extLst>
          </c:dPt>
          <c:dPt>
            <c:idx val="7"/>
            <c:invertIfNegative val="0"/>
            <c:bubble3D val="0"/>
            <c:spPr>
              <a:solidFill>
                <a:srgbClr val="618EB2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7-652E-40DD-A971-F9333FA33C09}"/>
              </c:ext>
            </c:extLst>
          </c:dPt>
          <c:dPt>
            <c:idx val="8"/>
            <c:invertIfNegative val="0"/>
            <c:bubble3D val="0"/>
            <c:spPr>
              <a:solidFill>
                <a:srgbClr val="5C89A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5-652E-40DD-A971-F9333FA33C09}"/>
              </c:ext>
            </c:extLst>
          </c:dPt>
          <c:dPt>
            <c:idx val="9"/>
            <c:invertIfNegative val="0"/>
            <c:bubble3D val="0"/>
            <c:spPr>
              <a:solidFill>
                <a:srgbClr val="5883A8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3-652E-40DD-A971-F9333FA33C09}"/>
              </c:ext>
            </c:extLst>
          </c:dPt>
          <c:dPt>
            <c:idx val="10"/>
            <c:invertIfNegative val="0"/>
            <c:bubble3D val="0"/>
            <c:spPr>
              <a:solidFill>
                <a:srgbClr val="537EA2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1-652E-40DD-A971-F9333FA33C09}"/>
              </c:ext>
            </c:extLst>
          </c:dPt>
          <c:dPt>
            <c:idx val="11"/>
            <c:invertIfNegative val="0"/>
            <c:bubble3D val="0"/>
            <c:spPr>
              <a:solidFill>
                <a:srgbClr val="4F799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F-652E-40DD-A971-F9333FA33C09}"/>
              </c:ext>
            </c:extLst>
          </c:dPt>
          <c:dPt>
            <c:idx val="12"/>
            <c:invertIfNegative val="0"/>
            <c:bubble3D val="0"/>
            <c:spPr>
              <a:solidFill>
                <a:srgbClr val="4B7498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D-652E-40DD-A971-F9333FA33C09}"/>
              </c:ext>
            </c:extLst>
          </c:dPt>
          <c:dPt>
            <c:idx val="13"/>
            <c:invertIfNegative val="0"/>
            <c:bubble3D val="0"/>
            <c:spPr>
              <a:solidFill>
                <a:srgbClr val="466E92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B-652E-40DD-A971-F9333FA33C09}"/>
              </c:ext>
            </c:extLst>
          </c:dPt>
          <c:dPt>
            <c:idx val="14"/>
            <c:invertIfNegative val="0"/>
            <c:bubble3D val="0"/>
            <c:spPr>
              <a:solidFill>
                <a:srgbClr val="42698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9-652E-40DD-A971-F9333FA33C09}"/>
              </c:ext>
            </c:extLst>
          </c:dPt>
          <c:dPt>
            <c:idx val="15"/>
            <c:invertIfNegative val="0"/>
            <c:bubble3D val="0"/>
            <c:spPr>
              <a:solidFill>
                <a:srgbClr val="3E6488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7-652E-40DD-A971-F9333FA33C09}"/>
              </c:ext>
            </c:extLst>
          </c:dPt>
          <c:dPt>
            <c:idx val="16"/>
            <c:invertIfNegative val="0"/>
            <c:bubble3D val="0"/>
            <c:spPr>
              <a:solidFill>
                <a:srgbClr val="395E82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5-652E-40DD-A971-F9333FA33C09}"/>
              </c:ext>
            </c:extLst>
          </c:dPt>
          <c:dPt>
            <c:idx val="17"/>
            <c:invertIfNegative val="0"/>
            <c:bubble3D val="0"/>
            <c:spPr>
              <a:solidFill>
                <a:srgbClr val="35597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3-652E-40DD-A971-F9333FA33C09}"/>
              </c:ext>
            </c:extLst>
          </c:dPt>
          <c:dPt>
            <c:idx val="18"/>
            <c:invertIfNegative val="0"/>
            <c:bubble3D val="0"/>
            <c:spPr>
              <a:solidFill>
                <a:srgbClr val="315477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1-652E-40DD-A971-F9333FA33C09}"/>
              </c:ext>
            </c:extLst>
          </c:dPt>
          <c:dPt>
            <c:idx val="19"/>
            <c:invertIfNegative val="0"/>
            <c:bubble3D val="0"/>
            <c:spPr>
              <a:solidFill>
                <a:srgbClr val="2C4F72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F-652E-40DD-A971-F9333FA33C09}"/>
              </c:ext>
            </c:extLst>
          </c:dPt>
          <c:dPt>
            <c:idx val="20"/>
            <c:invertIfNegative val="0"/>
            <c:bubble3D val="0"/>
            <c:spPr>
              <a:solidFill>
                <a:srgbClr val="28496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D-652E-40DD-A971-F9333FA33C09}"/>
              </c:ext>
            </c:extLst>
          </c:dPt>
          <c:dPt>
            <c:idx val="21"/>
            <c:invertIfNegative val="0"/>
            <c:bubble3D val="0"/>
            <c:spPr>
              <a:solidFill>
                <a:srgbClr val="244467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B-652E-40DD-A971-F9333FA33C09}"/>
              </c:ext>
            </c:extLst>
          </c:dPt>
          <c:dPt>
            <c:idx val="22"/>
            <c:invertIfNegative val="0"/>
            <c:bubble3D val="0"/>
            <c:spPr>
              <a:solidFill>
                <a:srgbClr val="1F3F62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9-652E-40DD-A971-F9333FA33C09}"/>
              </c:ext>
            </c:extLst>
          </c:dPt>
          <c:dPt>
            <c:idx val="23"/>
            <c:invertIfNegative val="0"/>
            <c:bubble3D val="0"/>
            <c:spPr>
              <a:solidFill>
                <a:srgbClr val="1B3A5C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7-652E-40DD-A971-F9333FA33C09}"/>
              </c:ext>
            </c:extLst>
          </c:dPt>
          <c:dPt>
            <c:idx val="24"/>
            <c:invertIfNegative val="0"/>
            <c:bubble3D val="0"/>
            <c:spPr>
              <a:solidFill>
                <a:srgbClr val="E8734A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5-652E-40DD-A971-F9333FA33C09}"/>
              </c:ext>
            </c:extLst>
          </c:dPt>
          <c:dPt>
            <c:idx val="25"/>
            <c:invertIfNegative val="0"/>
            <c:bubble3D val="0"/>
            <c:spPr>
              <a:solidFill>
                <a:srgbClr val="E8734A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3-652E-40DD-A971-F9333FA33C09}"/>
              </c:ext>
            </c:extLst>
          </c:dPt>
          <c:dPt>
            <c:idx val="26"/>
            <c:invertIfNegative val="0"/>
            <c:bubble3D val="0"/>
            <c:spPr>
              <a:solidFill>
                <a:srgbClr val="E8734A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1-652E-40DD-A971-F9333FA33C09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Sheet1!$A$2:$A$28</c:f>
              <c:strCache>
                <c:ptCount val="27"/>
                <c:pt idx="0">
                  <c:v>Cyprus</c:v>
                </c:pt>
                <c:pt idx="1">
                  <c:v>Malta</c:v>
                </c:pt>
                <c:pt idx="2">
                  <c:v>Lithuania</c:v>
                </c:pt>
                <c:pt idx="3">
                  <c:v>Estonia</c:v>
                </c:pt>
                <c:pt idx="4">
                  <c:v>Latvia</c:v>
                </c:pt>
                <c:pt idx="5">
                  <c:v>Slovakia</c:v>
                </c:pt>
                <c:pt idx="6">
                  <c:v>Croatia</c:v>
                </c:pt>
                <c:pt idx="7">
                  <c:v>Luxembourg</c:v>
                </c:pt>
                <c:pt idx="8">
                  <c:v>Slovenia</c:v>
                </c:pt>
                <c:pt idx="9">
                  <c:v>Bulgaria</c:v>
                </c:pt>
                <c:pt idx="10">
                  <c:v>Czechia</c:v>
                </c:pt>
                <c:pt idx="11">
                  <c:v>Hungary</c:v>
                </c:pt>
                <c:pt idx="12">
                  <c:v>Romania</c:v>
                </c:pt>
                <c:pt idx="13">
                  <c:v>Greece</c:v>
                </c:pt>
                <c:pt idx="14">
                  <c:v>Ireland</c:v>
                </c:pt>
                <c:pt idx="15">
                  <c:v>Portugal</c:v>
                </c:pt>
                <c:pt idx="16">
                  <c:v>Poland</c:v>
                </c:pt>
                <c:pt idx="17">
                  <c:v>Austria</c:v>
                </c:pt>
                <c:pt idx="18">
                  <c:v>Finland</c:v>
                </c:pt>
                <c:pt idx="19">
                  <c:v>Denmark</c:v>
                </c:pt>
                <c:pt idx="20">
                  <c:v>Belgium</c:v>
                </c:pt>
                <c:pt idx="21">
                  <c:v>Netherlands</c:v>
                </c:pt>
                <c:pt idx="22">
                  <c:v>Spain</c:v>
                </c:pt>
                <c:pt idx="23">
                  <c:v>Sweden</c:v>
                </c:pt>
                <c:pt idx="24">
                  <c:v>Italy</c:v>
                </c:pt>
                <c:pt idx="25">
                  <c:v>Germany</c:v>
                </c:pt>
                <c:pt idx="26">
                  <c:v>France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3000</c:v>
                </c:pt>
                <c:pt idx="1">
                  <c:v>5000</c:v>
                </c:pt>
                <c:pt idx="2">
                  <c:v>8000</c:v>
                </c:pt>
                <c:pt idx="3">
                  <c:v>10000</c:v>
                </c:pt>
                <c:pt idx="4">
                  <c:v>12000</c:v>
                </c:pt>
                <c:pt idx="5">
                  <c:v>15000</c:v>
                </c:pt>
                <c:pt idx="6">
                  <c:v>18000</c:v>
                </c:pt>
                <c:pt idx="7">
                  <c:v>20000</c:v>
                </c:pt>
                <c:pt idx="8">
                  <c:v>25000</c:v>
                </c:pt>
                <c:pt idx="9">
                  <c:v>30000</c:v>
                </c:pt>
                <c:pt idx="10">
                  <c:v>35000</c:v>
                </c:pt>
                <c:pt idx="11">
                  <c:v>45000</c:v>
                </c:pt>
                <c:pt idx="12">
                  <c:v>55000</c:v>
                </c:pt>
                <c:pt idx="13">
                  <c:v>60000</c:v>
                </c:pt>
                <c:pt idx="14">
                  <c:v>70000</c:v>
                </c:pt>
                <c:pt idx="15">
                  <c:v>80000</c:v>
                </c:pt>
                <c:pt idx="16">
                  <c:v>130000</c:v>
                </c:pt>
                <c:pt idx="17">
                  <c:v>150000</c:v>
                </c:pt>
                <c:pt idx="18">
                  <c:v>170000</c:v>
                </c:pt>
                <c:pt idx="19">
                  <c:v>180000</c:v>
                </c:pt>
                <c:pt idx="20">
                  <c:v>250000</c:v>
                </c:pt>
                <c:pt idx="21">
                  <c:v>280000</c:v>
                </c:pt>
                <c:pt idx="22">
                  <c:v>320000</c:v>
                </c:pt>
                <c:pt idx="23">
                  <c:v>350000</c:v>
                </c:pt>
                <c:pt idx="24">
                  <c:v>900000</c:v>
                </c:pt>
                <c:pt idx="25">
                  <c:v>1250000</c:v>
                </c:pt>
                <c:pt idx="26">
                  <c:v>1500000</c:v>
                </c:pt>
              </c:numCache>
            </c:numRef>
          </c:val>
          <c:extLst xmlns:c16="http://schemas.microsoft.com/office/drawing/2014/chart">
            <c:ext xmlns:c16="http://schemas.microsoft.com/office/drawing/2014/chart" uri="{C3380CC4-5D6E-409C-BE32-E72D297353CC}">
              <c16:uniqueId val="{00000000-1BF1-427C-9211-8FD476AC8F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00000000"/>
        <c:axId val="100000001"/>
      </c:barChart>
      <c:catAx>
        <c:axId val="100000000"/>
        <c:scaling>
          <c:orientation val="minMax"/>
        </c:scaling>
        <c:delete val="0"/>
        <c:axPos val="l"/>
        <c:numFmt formatCode="General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01"/>
        <c:crosses val="autoZero"/>
        <c:auto val="1"/>
        <c:lblAlgn val="ctr"/>
        <c:lblOffset val="100"/>
        <c:noMultiLvlLbl val="1"/>
      </c:catAx>
      <c:valAx>
        <c:axId val="100000001"/>
        <c:scaling>
          <c:orientation val="minMax"/>
        </c:scaling>
        <c:delete val="0"/>
        <c:axPos val="b"/>
        <c:majorGridlines/>
        <c:numFmt formatCode="#,##0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00"/>
        <c:crosses val="autoZero"/>
        <c:crossBetween val="between"/>
      </c:valAx>
      <c:spPr>
        <a:solidFill>
          <a:srgbClr val="FFFFFF">
            <a:alpha val="0"/>
          </a:srgbClr>
        </a:solidFill>
      </c:spPr>
    </c:plotArea>
    <c:plotVisOnly val="1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France</c:v>
          </c:tx>
          <c:marker>
            <c:symbol val="circle"/>
            <c:size val="6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-1</c:v>
                </c:pt>
                <c:pt idx="1">
                  <c:v>-25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0-AE8B-44E4-90FF-F3533CA4F465}"/>
            </c:ext>
          </c:extLst>
        </c:ser>
        <c:ser>
          <c:idx val="1"/>
          <c:order val="1"/>
          <c:tx>
            <c:v>Germany</c:v>
          </c:tx>
          <c:marker>
            <c:symbol val="circle"/>
            <c:size val="6"/>
          </c:marker>
          <c:x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Sheet1!$D$2:$D$3</c:f>
              <c:numCache>
                <c:formatCode>General</c:formatCode>
                <c:ptCount val="2"/>
                <c:pt idx="0">
                  <c:v>-2</c:v>
                </c:pt>
                <c:pt idx="1">
                  <c:v>-26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1-AE8B-44E4-90FF-F3533CA4F465}"/>
            </c:ext>
          </c:extLst>
        </c:ser>
        <c:ser>
          <c:idx val="2"/>
          <c:order val="2"/>
          <c:tx>
            <c:v>Italy</c:v>
          </c:tx>
          <c:marker>
            <c:symbol val="circle"/>
            <c:size val="6"/>
          </c:marker>
          <c:xVal>
            <c:numRef>
              <c:f>Sheet1!$E$2:$E$3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Sheet1!$F$2:$F$3</c:f>
              <c:numCache>
                <c:formatCode>General</c:formatCode>
                <c:ptCount val="2"/>
                <c:pt idx="0">
                  <c:v>-3</c:v>
                </c:pt>
                <c:pt idx="1">
                  <c:v>-27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2-AE8B-44E4-90FF-F3533CA4F465}"/>
            </c:ext>
          </c:extLst>
        </c:ser>
        <c:ser>
          <c:idx val="3"/>
          <c:order val="3"/>
          <c:tx>
            <c:v>Sweden</c:v>
          </c:tx>
          <c:marker>
            <c:symbol val="circle"/>
            <c:size val="3"/>
          </c:marker>
          <c:xVal>
            <c:numRef>
              <c:f>Sheet1!$G$2:$G$3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Sheet1!$H$2:$H$3</c:f>
              <c:numCache>
                <c:formatCode>General</c:formatCode>
                <c:ptCount val="2"/>
                <c:pt idx="0">
                  <c:v>-4</c:v>
                </c:pt>
                <c:pt idx="1">
                  <c:v>-3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3-AE8B-44E4-90FF-F3533CA4F465}"/>
            </c:ext>
          </c:extLst>
        </c:ser>
        <c:ser>
          <c:idx val="4"/>
          <c:order val="4"/>
          <c:tx>
            <c:v>Spain</c:v>
          </c:tx>
          <c:marker>
            <c:symbol val="circle"/>
            <c:size val="3"/>
          </c:marker>
          <c:xVal>
            <c:numRef>
              <c:f>Sheet1!$I$2:$I$3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Sheet1!$J$2:$J$3</c:f>
              <c:numCache>
                <c:formatCode>General</c:formatCode>
                <c:ptCount val="2"/>
                <c:pt idx="0">
                  <c:v>-5</c:v>
                </c:pt>
                <c:pt idx="1">
                  <c:v>-6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4-AE8B-44E4-90FF-F3533CA4F465}"/>
            </c:ext>
          </c:extLst>
        </c:ser>
        <c:ser>
          <c:idx val="5"/>
          <c:order val="5"/>
          <c:tx>
            <c:v>Netherlands</c:v>
          </c:tx>
          <c:marker>
            <c:symbol val="circle"/>
            <c:size val="3"/>
          </c:marker>
          <c:xVal>
            <c:numRef>
              <c:f>Sheet1!$K$2:$K$3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Sheet1!$L$2:$L$3</c:f>
              <c:numCache>
                <c:formatCode>General</c:formatCode>
                <c:ptCount val="2"/>
                <c:pt idx="0">
                  <c:v>-6</c:v>
                </c:pt>
                <c:pt idx="1">
                  <c:v>-7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5-AE8B-44E4-90FF-F3533CA4F465}"/>
            </c:ext>
          </c:extLst>
        </c:ser>
        <c:ser>
          <c:idx val="6"/>
          <c:order val="6"/>
          <c:tx>
            <c:v>Belgium</c:v>
          </c:tx>
          <c:marker>
            <c:symbol val="circle"/>
            <c:size val="3"/>
          </c:marker>
          <c:xVal>
            <c:numRef>
              <c:f>Sheet1!$M$2:$M$3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Sheet1!$N$2:$N$3</c:f>
              <c:numCache>
                <c:formatCode>General</c:formatCode>
                <c:ptCount val="2"/>
                <c:pt idx="0">
                  <c:v>-7</c:v>
                </c:pt>
                <c:pt idx="1">
                  <c:v>-5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6-AE8B-44E4-90FF-F3533CA4F465}"/>
            </c:ext>
          </c:extLst>
        </c:ser>
        <c:ser>
          <c:idx val="7"/>
          <c:order val="7"/>
          <c:tx>
            <c:v>Denmark</c:v>
          </c:tx>
          <c:marker>
            <c:symbol val="circle"/>
            <c:size val="3"/>
          </c:marker>
          <c:xVal>
            <c:numRef>
              <c:f>Sheet1!$O$2:$O$3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Sheet1!$P$2:$P$3</c:f>
              <c:numCache>
                <c:formatCode>General</c:formatCode>
                <c:ptCount val="2"/>
                <c:pt idx="0">
                  <c:v>-8</c:v>
                </c:pt>
                <c:pt idx="1">
                  <c:v>-4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7-AE8B-44E4-90FF-F3533CA4F465}"/>
            </c:ext>
          </c:extLst>
        </c:ser>
        <c:ser>
          <c:idx val="8"/>
          <c:order val="8"/>
          <c:tx>
            <c:v>Finland</c:v>
          </c:tx>
          <c:marker>
            <c:symbol val="circle"/>
            <c:size val="6"/>
          </c:marker>
          <c:xVal>
            <c:numRef>
              <c:f>Sheet1!$Q$2:$Q$3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Sheet1!$R$2:$R$3</c:f>
              <c:numCache>
                <c:formatCode>General</c:formatCode>
                <c:ptCount val="2"/>
                <c:pt idx="0">
                  <c:v>-9</c:v>
                </c:pt>
                <c:pt idx="1">
                  <c:v>-2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8-AE8B-44E4-90FF-F3533CA4F465}"/>
            </c:ext>
          </c:extLst>
        </c:ser>
        <c:ser>
          <c:idx val="9"/>
          <c:order val="9"/>
          <c:tx>
            <c:v>Austria</c:v>
          </c:tx>
          <c:marker>
            <c:symbol val="circle"/>
            <c:size val="3"/>
          </c:marker>
          <c:xVal>
            <c:numRef>
              <c:f>Sheet1!$S$2:$S$3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Sheet1!$T$2:$T$3</c:f>
              <c:numCache>
                <c:formatCode>General</c:formatCode>
                <c:ptCount val="2"/>
                <c:pt idx="0">
                  <c:v>-10</c:v>
                </c:pt>
                <c:pt idx="1">
                  <c:v>-8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9-AE8B-44E4-90FF-F3533CA4F465}"/>
            </c:ext>
          </c:extLst>
        </c:ser>
        <c:ser>
          <c:idx val="10"/>
          <c:order val="10"/>
          <c:tx>
            <c:v>Poland</c:v>
          </c:tx>
          <c:marker>
            <c:symbol val="circle"/>
            <c:size val="3"/>
          </c:marker>
          <c:xVal>
            <c:numRef>
              <c:f>Sheet1!$U$2:$U$3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Sheet1!$V$2:$V$3</c:f>
              <c:numCache>
                <c:formatCode>General</c:formatCode>
                <c:ptCount val="2"/>
                <c:pt idx="0">
                  <c:v>-11</c:v>
                </c:pt>
                <c:pt idx="1">
                  <c:v>-18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A-AE8B-44E4-90FF-F3533CA4F465}"/>
            </c:ext>
          </c:extLst>
        </c:ser>
        <c:ser>
          <c:idx val="11"/>
          <c:order val="11"/>
          <c:tx>
            <c:v>Portugal</c:v>
          </c:tx>
          <c:marker>
            <c:symbol val="circle"/>
            <c:size val="3"/>
          </c:marker>
          <c:xVal>
            <c:numRef>
              <c:f>Sheet1!$W$2:$W$3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Sheet1!$X$2:$X$3</c:f>
              <c:numCache>
                <c:formatCode>General</c:formatCode>
                <c:ptCount val="2"/>
                <c:pt idx="0">
                  <c:v>-12</c:v>
                </c:pt>
                <c:pt idx="1">
                  <c:v>-14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B-AE8B-44E4-90FF-F3533CA4F465}"/>
            </c:ext>
          </c:extLst>
        </c:ser>
        <c:ser>
          <c:idx val="12"/>
          <c:order val="12"/>
          <c:tx>
            <c:v>Ireland</c:v>
          </c:tx>
          <c:marker>
            <c:symbol val="circle"/>
            <c:size val="3"/>
          </c:marker>
          <c:xVal>
            <c:numRef>
              <c:f>Sheet1!$Y$2:$Y$3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Sheet1!$Z$2:$Z$3</c:f>
              <c:numCache>
                <c:formatCode>General</c:formatCode>
                <c:ptCount val="2"/>
                <c:pt idx="0">
                  <c:v>-13</c:v>
                </c:pt>
                <c:pt idx="1">
                  <c:v>-11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C-AE8B-44E4-90FF-F3533CA4F465}"/>
            </c:ext>
          </c:extLst>
        </c:ser>
        <c:ser>
          <c:idx val="13"/>
          <c:order val="13"/>
          <c:tx>
            <c:v>Greece</c:v>
          </c:tx>
          <c:marker>
            <c:symbol val="circle"/>
            <c:size val="3"/>
          </c:marker>
          <c:xVal>
            <c:numRef>
              <c:f>Sheet1!$AA$2:$AA$3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Sheet1!$AB$2:$AB$3</c:f>
              <c:numCache>
                <c:formatCode>General</c:formatCode>
                <c:ptCount val="2"/>
                <c:pt idx="0">
                  <c:v>-14</c:v>
                </c:pt>
                <c:pt idx="1">
                  <c:v>-16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D-AE8B-44E4-90FF-F3533CA4F465}"/>
            </c:ext>
          </c:extLst>
        </c:ser>
        <c:ser>
          <c:idx val="14"/>
          <c:order val="14"/>
          <c:tx>
            <c:v>Romania</c:v>
          </c:tx>
          <c:marker>
            <c:symbol val="circle"/>
            <c:size val="3"/>
          </c:marker>
          <c:xVal>
            <c:numRef>
              <c:f>Sheet1!$AC$2:$AC$3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Sheet1!$AD$2:$AD$3</c:f>
              <c:numCache>
                <c:formatCode>General</c:formatCode>
                <c:ptCount val="2"/>
                <c:pt idx="0">
                  <c:v>-15</c:v>
                </c:pt>
                <c:pt idx="1">
                  <c:v>-21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E-AE8B-44E4-90FF-F3533CA4F465}"/>
            </c:ext>
          </c:extLst>
        </c:ser>
        <c:ser>
          <c:idx val="15"/>
          <c:order val="15"/>
          <c:tx>
            <c:v>Hungary</c:v>
          </c:tx>
          <c:marker>
            <c:symbol val="circle"/>
            <c:size val="3"/>
          </c:marker>
          <c:xVal>
            <c:numRef>
              <c:f>Sheet1!$AE$2:$AE$3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Sheet1!$AF$2:$AF$3</c:f>
              <c:numCache>
                <c:formatCode>General</c:formatCode>
                <c:ptCount val="2"/>
                <c:pt idx="0">
                  <c:v>-16</c:v>
                </c:pt>
                <c:pt idx="1">
                  <c:v>-17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F-AE8B-44E4-90FF-F3533CA4F465}"/>
            </c:ext>
          </c:extLst>
        </c:ser>
        <c:ser>
          <c:idx val="16"/>
          <c:order val="16"/>
          <c:tx>
            <c:v>Czechia</c:v>
          </c:tx>
          <c:marker>
            <c:symbol val="circle"/>
            <c:size val="3"/>
          </c:marker>
          <c:xVal>
            <c:numRef>
              <c:f>Sheet1!$AG$2:$AG$3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Sheet1!$AH$2:$AH$3</c:f>
              <c:numCache>
                <c:formatCode>General</c:formatCode>
                <c:ptCount val="2"/>
                <c:pt idx="0">
                  <c:v>-17</c:v>
                </c:pt>
                <c:pt idx="1">
                  <c:v>-13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0-AE8B-44E4-90FF-F3533CA4F465}"/>
            </c:ext>
          </c:extLst>
        </c:ser>
        <c:ser>
          <c:idx val="17"/>
          <c:order val="17"/>
          <c:tx>
            <c:v>Bulgaria</c:v>
          </c:tx>
          <c:marker>
            <c:symbol val="circle"/>
            <c:size val="3"/>
          </c:marker>
          <c:xVal>
            <c:numRef>
              <c:f>Sheet1!$AI$2:$AI$3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Sheet1!$AJ$2:$AJ$3</c:f>
              <c:numCache>
                <c:formatCode>General</c:formatCode>
                <c:ptCount val="2"/>
                <c:pt idx="0">
                  <c:v>-18</c:v>
                </c:pt>
                <c:pt idx="1">
                  <c:v>-19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1-AE8B-44E4-90FF-F3533CA4F465}"/>
            </c:ext>
          </c:extLst>
        </c:ser>
        <c:ser>
          <c:idx val="18"/>
          <c:order val="18"/>
          <c:tx>
            <c:v>Slovenia</c:v>
          </c:tx>
          <c:marker>
            <c:symbol val="circle"/>
            <c:size val="3"/>
          </c:marker>
          <c:xVal>
            <c:numRef>
              <c:f>Sheet1!$AK$2:$AK$3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Sheet1!$AL$2:$AL$3</c:f>
              <c:numCache>
                <c:formatCode>General</c:formatCode>
                <c:ptCount val="2"/>
                <c:pt idx="0">
                  <c:v>-19</c:v>
                </c:pt>
                <c:pt idx="1">
                  <c:v>-12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2-AE8B-44E4-90FF-F3533CA4F465}"/>
            </c:ext>
          </c:extLst>
        </c:ser>
        <c:ser>
          <c:idx val="19"/>
          <c:order val="19"/>
          <c:tx>
            <c:v>Luxembourg</c:v>
          </c:tx>
          <c:marker>
            <c:symbol val="circle"/>
            <c:size val="6"/>
          </c:marker>
          <c:xVal>
            <c:numRef>
              <c:f>Sheet1!$AM$2:$AM$3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Sheet1!$AN$2:$AN$3</c:f>
              <c:numCache>
                <c:formatCode>General</c:formatCode>
                <c:ptCount val="2"/>
                <c:pt idx="0">
                  <c:v>-20</c:v>
                </c:pt>
                <c:pt idx="1">
                  <c:v>-1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3-AE8B-44E4-90FF-F3533CA4F465}"/>
            </c:ext>
          </c:extLst>
        </c:ser>
        <c:ser>
          <c:idx val="20"/>
          <c:order val="20"/>
          <c:tx>
            <c:v>Croatia</c:v>
          </c:tx>
          <c:marker>
            <c:symbol val="circle"/>
            <c:size val="3"/>
          </c:marker>
          <c:xVal>
            <c:numRef>
              <c:f>Sheet1!$AO$2:$AO$3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Sheet1!$AP$2:$AP$3</c:f>
              <c:numCache>
                <c:formatCode>General</c:formatCode>
                <c:ptCount val="2"/>
                <c:pt idx="0">
                  <c:v>-21</c:v>
                </c:pt>
                <c:pt idx="1">
                  <c:v>-20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4-AE8B-44E4-90FF-F3533CA4F465}"/>
            </c:ext>
          </c:extLst>
        </c:ser>
        <c:ser>
          <c:idx val="21"/>
          <c:order val="21"/>
          <c:tx>
            <c:v>Slovakia</c:v>
          </c:tx>
          <c:marker>
            <c:symbol val="circle"/>
            <c:size val="3"/>
          </c:marker>
          <c:xVal>
            <c:numRef>
              <c:f>Sheet1!$AQ$2:$AQ$3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Sheet1!$AR$2:$AR$3</c:f>
              <c:numCache>
                <c:formatCode>General</c:formatCode>
                <c:ptCount val="2"/>
                <c:pt idx="0">
                  <c:v>-22</c:v>
                </c:pt>
                <c:pt idx="1">
                  <c:v>-22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5-AE8B-44E4-90FF-F3533CA4F465}"/>
            </c:ext>
          </c:extLst>
        </c:ser>
        <c:ser>
          <c:idx val="22"/>
          <c:order val="22"/>
          <c:tx>
            <c:v>Latvia</c:v>
          </c:tx>
          <c:marker>
            <c:symbol val="circle"/>
            <c:size val="3"/>
          </c:marker>
          <c:xVal>
            <c:numRef>
              <c:f>Sheet1!$AS$2:$AS$3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Sheet1!$AT$2:$AT$3</c:f>
              <c:numCache>
                <c:formatCode>General</c:formatCode>
                <c:ptCount val="2"/>
                <c:pt idx="0">
                  <c:v>-23</c:v>
                </c:pt>
                <c:pt idx="1">
                  <c:v>-9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6-AE8B-44E4-90FF-F3533CA4F465}"/>
            </c:ext>
          </c:extLst>
        </c:ser>
        <c:ser>
          <c:idx val="23"/>
          <c:order val="23"/>
          <c:tx>
            <c:v>Estonia</c:v>
          </c:tx>
          <c:marker>
            <c:symbol val="circle"/>
            <c:size val="3"/>
          </c:marker>
          <c:xVal>
            <c:numRef>
              <c:f>Sheet1!$AU$2:$AU$3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Sheet1!$AV$2:$AV$3</c:f>
              <c:numCache>
                <c:formatCode>General</c:formatCode>
                <c:ptCount val="2"/>
                <c:pt idx="0">
                  <c:v>-24</c:v>
                </c:pt>
                <c:pt idx="1">
                  <c:v>-15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7-AE8B-44E4-90FF-F3533CA4F465}"/>
            </c:ext>
          </c:extLst>
        </c:ser>
        <c:ser>
          <c:idx val="24"/>
          <c:order val="24"/>
          <c:tx>
            <c:v>Lithuania</c:v>
          </c:tx>
          <c:marker>
            <c:symbol val="circle"/>
            <c:size val="3"/>
          </c:marker>
          <c:xVal>
            <c:numRef>
              <c:f>Sheet1!$AW$2:$AW$3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Sheet1!$AX$2:$AX$3</c:f>
              <c:numCache>
                <c:formatCode>General</c:formatCode>
                <c:ptCount val="2"/>
                <c:pt idx="0">
                  <c:v>-25</c:v>
                </c:pt>
                <c:pt idx="1">
                  <c:v>-23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8-AE8B-44E4-90FF-F3533CA4F465}"/>
            </c:ext>
          </c:extLst>
        </c:ser>
        <c:ser>
          <c:idx val="25"/>
          <c:order val="25"/>
          <c:tx>
            <c:v>Malta</c:v>
          </c:tx>
          <c:marker>
            <c:symbol val="circle"/>
            <c:size val="3"/>
          </c:marker>
          <c:xVal>
            <c:numRef>
              <c:f>Sheet1!$AY$2:$AY$3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Sheet1!$AZ$2:$AZ$3</c:f>
              <c:numCache>
                <c:formatCode>General</c:formatCode>
                <c:ptCount val="2"/>
                <c:pt idx="0">
                  <c:v>-26</c:v>
                </c:pt>
                <c:pt idx="1">
                  <c:v>-10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9-AE8B-44E4-90FF-F3533CA4F465}"/>
            </c:ext>
          </c:extLst>
        </c:ser>
        <c:ser>
          <c:idx val="26"/>
          <c:order val="26"/>
          <c:tx>
            <c:v>Cyprus</c:v>
          </c:tx>
          <c:marker>
            <c:symbol val="circle"/>
            <c:size val="3"/>
          </c:marker>
          <c:xVal>
            <c:numRef>
              <c:f>Sheet1!$BA$2:$BA$3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Sheet1!$BB$2:$BB$3</c:f>
              <c:numCache>
                <c:formatCode>General</c:formatCode>
                <c:ptCount val="2"/>
                <c:pt idx="0">
                  <c:v>-27</c:v>
                </c:pt>
                <c:pt idx="1">
                  <c:v>-24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A-AE8B-44E4-90FF-F3533CA4F4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000008"/>
        <c:axId val="100000009"/>
      </c:scatterChart>
      <c:valAx>
        <c:axId val="100000008"/>
        <c:scaling>
          <c:orientation val="minMax"/>
        </c:scaling>
        <c:delete val="1"/>
        <c:axPos val="b"/>
        <c:numFmt formatCode=";;;" sourceLinked="0"/>
        <c:majorTickMark val="cross"/>
        <c:minorTickMark val="cross"/>
        <c:tickLblPos val="nextTo"/>
        <c:crossAx val="100000009"/>
        <c:crosses val="autoZero"/>
        <c:crossBetween val="midCat"/>
      </c:valAx>
      <c:valAx>
        <c:axId val="100000009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00000008"/>
        <c:crosses val="autoZero"/>
        <c:crossBetween val="midCat"/>
      </c:valAx>
      <c:spPr>
        <a:solidFill>
          <a:srgbClr val="FFFFFF">
            <a:alpha val="0"/>
          </a:srgbClr>
        </a:solidFill>
      </c:spPr>
    </c:plotArea>
    <c:plotVisOnly val="1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France</c:v>
          </c:tx>
          <c:xVal>
            <c:numRef>
              <c:f>Sheet1!$A$2:$A$3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-1</c:v>
                </c:pt>
                <c:pt idx="1">
                  <c:v>-25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0-B0F2-431C-8F4B-8DE8860156F6}"/>
            </c:ext>
          </c:extLst>
        </c:ser>
        <c:ser>
          <c:idx val="1"/>
          <c:order val="1"/>
          <c:tx>
            <c:v>Germany</c:v>
          </c:tx>
          <c:x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Sheet1!$D$2:$D$3</c:f>
              <c:numCache>
                <c:formatCode>General</c:formatCode>
                <c:ptCount val="2"/>
                <c:pt idx="0">
                  <c:v>-2</c:v>
                </c:pt>
                <c:pt idx="1">
                  <c:v>-26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1-B0F2-431C-8F4B-8DE8860156F6}"/>
            </c:ext>
          </c:extLst>
        </c:ser>
        <c:ser>
          <c:idx val="2"/>
          <c:order val="2"/>
          <c:tx>
            <c:v>Italy</c:v>
          </c:tx>
          <c:xVal>
            <c:numRef>
              <c:f>Sheet1!$E$2:$E$3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Sheet1!$F$2:$F$3</c:f>
              <c:numCache>
                <c:formatCode>General</c:formatCode>
                <c:ptCount val="2"/>
                <c:pt idx="0">
                  <c:v>-3</c:v>
                </c:pt>
                <c:pt idx="1">
                  <c:v>-27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2-B0F2-431C-8F4B-8DE8860156F6}"/>
            </c:ext>
          </c:extLst>
        </c:ser>
        <c:ser>
          <c:idx val="3"/>
          <c:order val="3"/>
          <c:tx>
            <c:v>Sweden</c:v>
          </c:tx>
          <c:xVal>
            <c:numRef>
              <c:f>Sheet1!$G$2:$G$3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Sheet1!$H$2:$H$3</c:f>
              <c:numCache>
                <c:formatCode>General</c:formatCode>
                <c:ptCount val="2"/>
                <c:pt idx="0">
                  <c:v>-4</c:v>
                </c:pt>
                <c:pt idx="1">
                  <c:v>-3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3-B0F2-431C-8F4B-8DE8860156F6}"/>
            </c:ext>
          </c:extLst>
        </c:ser>
        <c:ser>
          <c:idx val="4"/>
          <c:order val="4"/>
          <c:tx>
            <c:v>Spain</c:v>
          </c:tx>
          <c:xVal>
            <c:numRef>
              <c:f>Sheet1!$I$2:$I$3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Sheet1!$J$2:$J$3</c:f>
              <c:numCache>
                <c:formatCode>General</c:formatCode>
                <c:ptCount val="2"/>
                <c:pt idx="0">
                  <c:v>-5</c:v>
                </c:pt>
                <c:pt idx="1">
                  <c:v>-6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4-B0F2-431C-8F4B-8DE8860156F6}"/>
            </c:ext>
          </c:extLst>
        </c:ser>
        <c:ser>
          <c:idx val="5"/>
          <c:order val="5"/>
          <c:tx>
            <c:v>Netherlands</c:v>
          </c:tx>
          <c:xVal>
            <c:numRef>
              <c:f>Sheet1!$K$2:$K$3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Sheet1!$L$2:$L$3</c:f>
              <c:numCache>
                <c:formatCode>General</c:formatCode>
                <c:ptCount val="2"/>
                <c:pt idx="0">
                  <c:v>-6</c:v>
                </c:pt>
                <c:pt idx="1">
                  <c:v>-7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5-B0F2-431C-8F4B-8DE8860156F6}"/>
            </c:ext>
          </c:extLst>
        </c:ser>
        <c:ser>
          <c:idx val="6"/>
          <c:order val="6"/>
          <c:tx>
            <c:v>Belgium</c:v>
          </c:tx>
          <c:xVal>
            <c:numRef>
              <c:f>Sheet1!$M$2:$M$3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Sheet1!$N$2:$N$3</c:f>
              <c:numCache>
                <c:formatCode>General</c:formatCode>
                <c:ptCount val="2"/>
                <c:pt idx="0">
                  <c:v>-7</c:v>
                </c:pt>
                <c:pt idx="1">
                  <c:v>-5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6-B0F2-431C-8F4B-8DE8860156F6}"/>
            </c:ext>
          </c:extLst>
        </c:ser>
        <c:ser>
          <c:idx val="7"/>
          <c:order val="7"/>
          <c:tx>
            <c:v>Denmark</c:v>
          </c:tx>
          <c:xVal>
            <c:numRef>
              <c:f>Sheet1!$O$2:$O$3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Sheet1!$P$2:$P$3</c:f>
              <c:numCache>
                <c:formatCode>General</c:formatCode>
                <c:ptCount val="2"/>
                <c:pt idx="0">
                  <c:v>-8</c:v>
                </c:pt>
                <c:pt idx="1">
                  <c:v>-4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7-B0F2-431C-8F4B-8DE8860156F6}"/>
            </c:ext>
          </c:extLst>
        </c:ser>
        <c:ser>
          <c:idx val="8"/>
          <c:order val="8"/>
          <c:tx>
            <c:v>Finland</c:v>
          </c:tx>
          <c:xVal>
            <c:numRef>
              <c:f>Sheet1!$Q$2:$Q$3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Sheet1!$R$2:$R$3</c:f>
              <c:numCache>
                <c:formatCode>General</c:formatCode>
                <c:ptCount val="2"/>
                <c:pt idx="0">
                  <c:v>-9</c:v>
                </c:pt>
                <c:pt idx="1">
                  <c:v>-2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8-B0F2-431C-8F4B-8DE8860156F6}"/>
            </c:ext>
          </c:extLst>
        </c:ser>
        <c:ser>
          <c:idx val="9"/>
          <c:order val="9"/>
          <c:tx>
            <c:v>Austria</c:v>
          </c:tx>
          <c:xVal>
            <c:numRef>
              <c:f>Sheet1!$S$2:$S$3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Sheet1!$T$2:$T$3</c:f>
              <c:numCache>
                <c:formatCode>General</c:formatCode>
                <c:ptCount val="2"/>
                <c:pt idx="0">
                  <c:v>-10</c:v>
                </c:pt>
                <c:pt idx="1">
                  <c:v>-8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9-B0F2-431C-8F4B-8DE8860156F6}"/>
            </c:ext>
          </c:extLst>
        </c:ser>
        <c:ser>
          <c:idx val="10"/>
          <c:order val="10"/>
          <c:tx>
            <c:v>Poland</c:v>
          </c:tx>
          <c:xVal>
            <c:numRef>
              <c:f>Sheet1!$U$2:$U$3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Sheet1!$V$2:$V$3</c:f>
              <c:numCache>
                <c:formatCode>General</c:formatCode>
                <c:ptCount val="2"/>
                <c:pt idx="0">
                  <c:v>-11</c:v>
                </c:pt>
                <c:pt idx="1">
                  <c:v>-18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A-B0F2-431C-8F4B-8DE8860156F6}"/>
            </c:ext>
          </c:extLst>
        </c:ser>
        <c:ser>
          <c:idx val="11"/>
          <c:order val="11"/>
          <c:tx>
            <c:v>Portugal</c:v>
          </c:tx>
          <c:xVal>
            <c:numRef>
              <c:f>Sheet1!$W$2:$W$3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Sheet1!$X$2:$X$3</c:f>
              <c:numCache>
                <c:formatCode>General</c:formatCode>
                <c:ptCount val="2"/>
                <c:pt idx="0">
                  <c:v>-12</c:v>
                </c:pt>
                <c:pt idx="1">
                  <c:v>-14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B-B0F2-431C-8F4B-8DE8860156F6}"/>
            </c:ext>
          </c:extLst>
        </c:ser>
        <c:ser>
          <c:idx val="12"/>
          <c:order val="12"/>
          <c:tx>
            <c:v>Ireland</c:v>
          </c:tx>
          <c:xVal>
            <c:numRef>
              <c:f>Sheet1!$Y$2:$Y$3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Sheet1!$Z$2:$Z$3</c:f>
              <c:numCache>
                <c:formatCode>General</c:formatCode>
                <c:ptCount val="2"/>
                <c:pt idx="0">
                  <c:v>-13</c:v>
                </c:pt>
                <c:pt idx="1">
                  <c:v>-11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C-B0F2-431C-8F4B-8DE8860156F6}"/>
            </c:ext>
          </c:extLst>
        </c:ser>
        <c:ser>
          <c:idx val="13"/>
          <c:order val="13"/>
          <c:tx>
            <c:v>Greece</c:v>
          </c:tx>
          <c:xVal>
            <c:numRef>
              <c:f>Sheet1!$AA$2:$AA$3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Sheet1!$AB$2:$AB$3</c:f>
              <c:numCache>
                <c:formatCode>General</c:formatCode>
                <c:ptCount val="2"/>
                <c:pt idx="0">
                  <c:v>-14</c:v>
                </c:pt>
                <c:pt idx="1">
                  <c:v>-16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D-B0F2-431C-8F4B-8DE8860156F6}"/>
            </c:ext>
          </c:extLst>
        </c:ser>
        <c:ser>
          <c:idx val="14"/>
          <c:order val="14"/>
          <c:tx>
            <c:v>Romania</c:v>
          </c:tx>
          <c:xVal>
            <c:numRef>
              <c:f>Sheet1!$AC$2:$AC$3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Sheet1!$AD$2:$AD$3</c:f>
              <c:numCache>
                <c:formatCode>General</c:formatCode>
                <c:ptCount val="2"/>
                <c:pt idx="0">
                  <c:v>-15</c:v>
                </c:pt>
                <c:pt idx="1">
                  <c:v>-21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E-B0F2-431C-8F4B-8DE8860156F6}"/>
            </c:ext>
          </c:extLst>
        </c:ser>
        <c:ser>
          <c:idx val="15"/>
          <c:order val="15"/>
          <c:tx>
            <c:v>Hungary</c:v>
          </c:tx>
          <c:xVal>
            <c:numRef>
              <c:f>Sheet1!$AE$2:$AE$3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Sheet1!$AF$2:$AF$3</c:f>
              <c:numCache>
                <c:formatCode>General</c:formatCode>
                <c:ptCount val="2"/>
                <c:pt idx="0">
                  <c:v>-16</c:v>
                </c:pt>
                <c:pt idx="1">
                  <c:v>-17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F-B0F2-431C-8F4B-8DE8860156F6}"/>
            </c:ext>
          </c:extLst>
        </c:ser>
        <c:ser>
          <c:idx val="16"/>
          <c:order val="16"/>
          <c:tx>
            <c:v>Czechia</c:v>
          </c:tx>
          <c:xVal>
            <c:numRef>
              <c:f>Sheet1!$AG$2:$AG$3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Sheet1!$AH$2:$AH$3</c:f>
              <c:numCache>
                <c:formatCode>General</c:formatCode>
                <c:ptCount val="2"/>
                <c:pt idx="0">
                  <c:v>-17</c:v>
                </c:pt>
                <c:pt idx="1">
                  <c:v>-13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0-B0F2-431C-8F4B-8DE8860156F6}"/>
            </c:ext>
          </c:extLst>
        </c:ser>
        <c:ser>
          <c:idx val="17"/>
          <c:order val="17"/>
          <c:tx>
            <c:v>Bulgaria</c:v>
          </c:tx>
          <c:xVal>
            <c:numRef>
              <c:f>Sheet1!$AI$2:$AI$3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Sheet1!$AJ$2:$AJ$3</c:f>
              <c:numCache>
                <c:formatCode>General</c:formatCode>
                <c:ptCount val="2"/>
                <c:pt idx="0">
                  <c:v>-18</c:v>
                </c:pt>
                <c:pt idx="1">
                  <c:v>-19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1-B0F2-431C-8F4B-8DE8860156F6}"/>
            </c:ext>
          </c:extLst>
        </c:ser>
        <c:ser>
          <c:idx val="18"/>
          <c:order val="18"/>
          <c:tx>
            <c:v>Slovenia</c:v>
          </c:tx>
          <c:xVal>
            <c:numRef>
              <c:f>Sheet1!$AK$2:$AK$3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Sheet1!$AL$2:$AL$3</c:f>
              <c:numCache>
                <c:formatCode>General</c:formatCode>
                <c:ptCount val="2"/>
                <c:pt idx="0">
                  <c:v>-19</c:v>
                </c:pt>
                <c:pt idx="1">
                  <c:v>-12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2-B0F2-431C-8F4B-8DE8860156F6}"/>
            </c:ext>
          </c:extLst>
        </c:ser>
        <c:ser>
          <c:idx val="19"/>
          <c:order val="19"/>
          <c:tx>
            <c:v>Luxembourg</c:v>
          </c:tx>
          <c:xVal>
            <c:numRef>
              <c:f>Sheet1!$AM$2:$AM$3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Sheet1!$AN$2:$AN$3</c:f>
              <c:numCache>
                <c:formatCode>General</c:formatCode>
                <c:ptCount val="2"/>
                <c:pt idx="0">
                  <c:v>-20</c:v>
                </c:pt>
                <c:pt idx="1">
                  <c:v>-1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3-B0F2-431C-8F4B-8DE8860156F6}"/>
            </c:ext>
          </c:extLst>
        </c:ser>
        <c:ser>
          <c:idx val="20"/>
          <c:order val="20"/>
          <c:tx>
            <c:v>Croatia</c:v>
          </c:tx>
          <c:xVal>
            <c:numRef>
              <c:f>Sheet1!$AO$2:$AO$3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Sheet1!$AP$2:$AP$3</c:f>
              <c:numCache>
                <c:formatCode>General</c:formatCode>
                <c:ptCount val="2"/>
                <c:pt idx="0">
                  <c:v>-21</c:v>
                </c:pt>
                <c:pt idx="1">
                  <c:v>-20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4-B0F2-431C-8F4B-8DE8860156F6}"/>
            </c:ext>
          </c:extLst>
        </c:ser>
        <c:ser>
          <c:idx val="21"/>
          <c:order val="21"/>
          <c:tx>
            <c:v>Slovakia</c:v>
          </c:tx>
          <c:xVal>
            <c:numRef>
              <c:f>Sheet1!$AQ$2:$AQ$3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Sheet1!$AR$2:$AR$3</c:f>
              <c:numCache>
                <c:formatCode>General</c:formatCode>
                <c:ptCount val="2"/>
                <c:pt idx="0">
                  <c:v>-22</c:v>
                </c:pt>
                <c:pt idx="1">
                  <c:v>-22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5-B0F2-431C-8F4B-8DE8860156F6}"/>
            </c:ext>
          </c:extLst>
        </c:ser>
        <c:ser>
          <c:idx val="22"/>
          <c:order val="22"/>
          <c:tx>
            <c:v>Latvia</c:v>
          </c:tx>
          <c:xVal>
            <c:numRef>
              <c:f>Sheet1!$AS$2:$AS$3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Sheet1!$AT$2:$AT$3</c:f>
              <c:numCache>
                <c:formatCode>General</c:formatCode>
                <c:ptCount val="2"/>
                <c:pt idx="0">
                  <c:v>-23</c:v>
                </c:pt>
                <c:pt idx="1">
                  <c:v>-9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6-B0F2-431C-8F4B-8DE8860156F6}"/>
            </c:ext>
          </c:extLst>
        </c:ser>
        <c:ser>
          <c:idx val="23"/>
          <c:order val="23"/>
          <c:tx>
            <c:v>Estonia</c:v>
          </c:tx>
          <c:xVal>
            <c:numRef>
              <c:f>Sheet1!$AU$2:$AU$3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Sheet1!$AV$2:$AV$3</c:f>
              <c:numCache>
                <c:formatCode>General</c:formatCode>
                <c:ptCount val="2"/>
                <c:pt idx="0">
                  <c:v>-24</c:v>
                </c:pt>
                <c:pt idx="1">
                  <c:v>-15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7-B0F2-431C-8F4B-8DE8860156F6}"/>
            </c:ext>
          </c:extLst>
        </c:ser>
        <c:ser>
          <c:idx val="24"/>
          <c:order val="24"/>
          <c:tx>
            <c:v>Lithuania</c:v>
          </c:tx>
          <c:xVal>
            <c:numRef>
              <c:f>Sheet1!$AW$2:$AW$3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Sheet1!$AX$2:$AX$3</c:f>
              <c:numCache>
                <c:formatCode>General</c:formatCode>
                <c:ptCount val="2"/>
                <c:pt idx="0">
                  <c:v>-25</c:v>
                </c:pt>
                <c:pt idx="1">
                  <c:v>-23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8-B0F2-431C-8F4B-8DE8860156F6}"/>
            </c:ext>
          </c:extLst>
        </c:ser>
        <c:ser>
          <c:idx val="25"/>
          <c:order val="25"/>
          <c:tx>
            <c:v>Malta</c:v>
          </c:tx>
          <c:xVal>
            <c:numRef>
              <c:f>Sheet1!$AY$2:$AY$3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Sheet1!$AZ$2:$AZ$3</c:f>
              <c:numCache>
                <c:formatCode>General</c:formatCode>
                <c:ptCount val="2"/>
                <c:pt idx="0">
                  <c:v>-26</c:v>
                </c:pt>
                <c:pt idx="1">
                  <c:v>-10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9-B0F2-431C-8F4B-8DE8860156F6}"/>
            </c:ext>
          </c:extLst>
        </c:ser>
        <c:ser>
          <c:idx val="26"/>
          <c:order val="26"/>
          <c:tx>
            <c:v>Cyprus</c:v>
          </c:tx>
          <c:xVal>
            <c:numRef>
              <c:f>Sheet1!$BA$2:$BA$3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Sheet1!$BB$2:$BB$3</c:f>
              <c:numCache>
                <c:formatCode>General</c:formatCode>
                <c:ptCount val="2"/>
                <c:pt idx="0">
                  <c:v>-27</c:v>
                </c:pt>
                <c:pt idx="1">
                  <c:v>-24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A-B0F2-431C-8F4B-8DE8860156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000016"/>
        <c:axId val="100000017"/>
      </c:scatterChart>
      <c:valAx>
        <c:axId val="100000016"/>
        <c:scaling>
          <c:orientation val="minMax"/>
        </c:scaling>
        <c:delete val="0"/>
        <c:axPos val="b"/>
        <c:numFmt formatCode=";;;" sourceLinked="0"/>
        <c:majorTickMark val="cross"/>
        <c:minorTickMark val="cross"/>
        <c:tickLblPos val="nextTo"/>
        <c:spPr>
          <a:ln>
            <a:solidFill>
              <a:srgbClr val="FFFFFF"/>
            </a:solidFill>
          </a:ln>
        </c:spPr>
        <c:crossAx val="100000017"/>
        <c:crosses val="autoZero"/>
        <c:crossBetween val="midCat"/>
      </c:valAx>
      <c:valAx>
        <c:axId val="100000017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00000016"/>
        <c:crosses val="autoZero"/>
        <c:crossBetween val="midCat"/>
      </c:valAx>
    </c:plotArea>
    <c:plotVisOnly val="1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/>
              <a:t>Crime Trend in EU Countries (2014–2023)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Increasing</c:v>
          </c:tx>
          <c:spPr>
            <a:solidFill>
              <a:srgbClr val="E8734A"/>
            </a:solidFill>
          </c:spPr>
          <c:invertIfNegative val="0"/>
          <c:cat>
            <c:strRef>
              <c:f>Sheet1!$A$2:$A$28</c:f>
              <c:strCache>
                <c:ptCount val="27"/>
                <c:pt idx="0">
                  <c:v>Czechia</c:v>
                </c:pt>
                <c:pt idx="1">
                  <c:v>Lithuania</c:v>
                </c:pt>
                <c:pt idx="2">
                  <c:v>Slovakia</c:v>
                </c:pt>
                <c:pt idx="3">
                  <c:v>Romania</c:v>
                </c:pt>
                <c:pt idx="4">
                  <c:v>Hungary</c:v>
                </c:pt>
                <c:pt idx="5">
                  <c:v>Latvia</c:v>
                </c:pt>
                <c:pt idx="6">
                  <c:v>Malta</c:v>
                </c:pt>
                <c:pt idx="7">
                  <c:v>Bulgaria</c:v>
                </c:pt>
                <c:pt idx="8">
                  <c:v>Estonia</c:v>
                </c:pt>
                <c:pt idx="9">
                  <c:v>Denmark</c:v>
                </c:pt>
                <c:pt idx="10">
                  <c:v>Netherlands</c:v>
                </c:pt>
                <c:pt idx="11">
                  <c:v>Italy</c:v>
                </c:pt>
                <c:pt idx="12">
                  <c:v>Poland</c:v>
                </c:pt>
                <c:pt idx="13">
                  <c:v>Sweden</c:v>
                </c:pt>
                <c:pt idx="14">
                  <c:v>Austria</c:v>
                </c:pt>
                <c:pt idx="15">
                  <c:v>Slovenia</c:v>
                </c:pt>
                <c:pt idx="16">
                  <c:v>Germany</c:v>
                </c:pt>
                <c:pt idx="17">
                  <c:v>Portugal</c:v>
                </c:pt>
                <c:pt idx="18">
                  <c:v>Cyprus</c:v>
                </c:pt>
                <c:pt idx="19">
                  <c:v>Ireland</c:v>
                </c:pt>
                <c:pt idx="20">
                  <c:v>Finland</c:v>
                </c:pt>
                <c:pt idx="21">
                  <c:v>Croatia</c:v>
                </c:pt>
                <c:pt idx="22">
                  <c:v>Belgium</c:v>
                </c:pt>
                <c:pt idx="23">
                  <c:v>France</c:v>
                </c:pt>
                <c:pt idx="24">
                  <c:v>Spain</c:v>
                </c:pt>
                <c:pt idx="25">
                  <c:v>Greece</c:v>
                </c:pt>
                <c:pt idx="26">
                  <c:v>Luxembourg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8</c:v>
                </c:pt>
                <c:pt idx="19">
                  <c:v>10</c:v>
                </c:pt>
                <c:pt idx="20">
                  <c:v>12</c:v>
                </c:pt>
                <c:pt idx="21">
                  <c:v>15</c:v>
                </c:pt>
                <c:pt idx="22">
                  <c:v>20</c:v>
                </c:pt>
                <c:pt idx="23">
                  <c:v>30</c:v>
                </c:pt>
                <c:pt idx="24">
                  <c:v>35</c:v>
                </c:pt>
                <c:pt idx="25">
                  <c:v>40</c:v>
                </c:pt>
                <c:pt idx="26">
                  <c:v>100</c:v>
                </c:pt>
              </c:numCache>
            </c:numRef>
          </c:val>
          <c:extLst xmlns:c16="http://schemas.microsoft.com/office/drawing/2014/chart">
            <c:ext xmlns:c16="http://schemas.microsoft.com/office/drawing/2014/chart" uri="{C3380CC4-5D6E-409C-BE32-E72D297353CC}">
              <c16:uniqueId val="{00000000-1367-4E09-A71A-D130AF157E22}"/>
            </c:ext>
          </c:extLst>
        </c:ser>
        <c:ser>
          <c:idx val="1"/>
          <c:order val="1"/>
          <c:tx>
            <c:v>Decreasing</c:v>
          </c:tx>
          <c:spPr>
            <a:solidFill>
              <a:srgbClr val="2D8B75"/>
            </a:solidFill>
          </c:spPr>
          <c:invertIfNegative val="0"/>
          <c:cat>
            <c:strRef>
              <c:f>Sheet1!$A$2:$A$28</c:f>
              <c:strCache>
                <c:ptCount val="27"/>
                <c:pt idx="0">
                  <c:v>Czechia</c:v>
                </c:pt>
                <c:pt idx="1">
                  <c:v>Lithuania</c:v>
                </c:pt>
                <c:pt idx="2">
                  <c:v>Slovakia</c:v>
                </c:pt>
                <c:pt idx="3">
                  <c:v>Romania</c:v>
                </c:pt>
                <c:pt idx="4">
                  <c:v>Hungary</c:v>
                </c:pt>
                <c:pt idx="5">
                  <c:v>Latvia</c:v>
                </c:pt>
                <c:pt idx="6">
                  <c:v>Malta</c:v>
                </c:pt>
                <c:pt idx="7">
                  <c:v>Bulgaria</c:v>
                </c:pt>
                <c:pt idx="8">
                  <c:v>Estonia</c:v>
                </c:pt>
                <c:pt idx="9">
                  <c:v>Denmark</c:v>
                </c:pt>
                <c:pt idx="10">
                  <c:v>Netherlands</c:v>
                </c:pt>
                <c:pt idx="11">
                  <c:v>Italy</c:v>
                </c:pt>
                <c:pt idx="12">
                  <c:v>Poland</c:v>
                </c:pt>
                <c:pt idx="13">
                  <c:v>Sweden</c:v>
                </c:pt>
                <c:pt idx="14">
                  <c:v>Austria</c:v>
                </c:pt>
                <c:pt idx="15">
                  <c:v>Slovenia</c:v>
                </c:pt>
                <c:pt idx="16">
                  <c:v>Germany</c:v>
                </c:pt>
                <c:pt idx="17">
                  <c:v>Portugal</c:v>
                </c:pt>
                <c:pt idx="18">
                  <c:v>Cyprus</c:v>
                </c:pt>
                <c:pt idx="19">
                  <c:v>Ireland</c:v>
                </c:pt>
                <c:pt idx="20">
                  <c:v>Finland</c:v>
                </c:pt>
                <c:pt idx="21">
                  <c:v>Croatia</c:v>
                </c:pt>
                <c:pt idx="22">
                  <c:v>Belgium</c:v>
                </c:pt>
                <c:pt idx="23">
                  <c:v>France</c:v>
                </c:pt>
                <c:pt idx="24">
                  <c:v>Spain</c:v>
                </c:pt>
                <c:pt idx="25">
                  <c:v>Greece</c:v>
                </c:pt>
                <c:pt idx="26">
                  <c:v>Luxembourg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-55</c:v>
                </c:pt>
                <c:pt idx="1">
                  <c:v>-50</c:v>
                </c:pt>
                <c:pt idx="2">
                  <c:v>-45</c:v>
                </c:pt>
                <c:pt idx="3">
                  <c:v>-40</c:v>
                </c:pt>
                <c:pt idx="4">
                  <c:v>-35</c:v>
                </c:pt>
                <c:pt idx="5">
                  <c:v>-30</c:v>
                </c:pt>
                <c:pt idx="6">
                  <c:v>-28</c:v>
                </c:pt>
                <c:pt idx="7">
                  <c:v>-25</c:v>
                </c:pt>
                <c:pt idx="8">
                  <c:v>-22</c:v>
                </c:pt>
                <c:pt idx="9">
                  <c:v>-20</c:v>
                </c:pt>
                <c:pt idx="10">
                  <c:v>-18</c:v>
                </c:pt>
                <c:pt idx="11">
                  <c:v>-15</c:v>
                </c:pt>
                <c:pt idx="12">
                  <c:v>-12</c:v>
                </c:pt>
                <c:pt idx="13">
                  <c:v>-10</c:v>
                </c:pt>
                <c:pt idx="14">
                  <c:v>-8</c:v>
                </c:pt>
                <c:pt idx="15">
                  <c:v>-5</c:v>
                </c:pt>
                <c:pt idx="16">
                  <c:v>-3</c:v>
                </c:pt>
                <c:pt idx="17">
                  <c:v>-2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extLst xmlns:c16="http://schemas.microsoft.com/office/drawing/2014/chart">
            <c:ext xmlns:c16="http://schemas.microsoft.com/office/drawing/2014/chart" uri="{C3380CC4-5D6E-409C-BE32-E72D297353CC}">
              <c16:uniqueId val="{00000001-1367-4E09-A71A-D130AF157E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00000002"/>
        <c:axId val="100000003"/>
      </c:barChart>
      <c:catAx>
        <c:axId val="100000002"/>
        <c:scaling>
          <c:orientation val="minMax"/>
        </c:scaling>
        <c:delete val="0"/>
        <c:axPos val="l"/>
        <c:numFmt formatCode="General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03"/>
        <c:crosses val="autoZero"/>
        <c:auto val="1"/>
        <c:lblAlgn val="ctr"/>
        <c:lblOffset val="100"/>
        <c:noMultiLvlLbl val="1"/>
      </c:catAx>
      <c:valAx>
        <c:axId val="100000003"/>
        <c:scaling>
          <c:orientation val="minMax"/>
        </c:scaling>
        <c:delete val="0"/>
        <c:axPos val="b"/>
        <c:majorGridlines/>
        <c:numFmt formatCode="0&quot;%&quot;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02"/>
        <c:crosses val="autoZero"/>
        <c:crossBetween val="between"/>
      </c:valAx>
      <c:spPr>
        <a:solidFill>
          <a:srgbClr val="FFFFFF">
            <a:alpha val="0"/>
          </a:srgbClr>
        </a:solidFill>
      </c:spPr>
    </c:plotArea>
    <c:plotVisOnly val="1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Increasing</c:v>
          </c:tx>
          <c:spPr>
            <a:solidFill>
              <a:srgbClr val="E8734A"/>
            </a:solidFill>
          </c:spPr>
          <c:invertIfNegative val="0"/>
          <c:cat>
            <c:strRef>
              <c:f>Sheet1!$A$2:$A$28</c:f>
              <c:strCache>
                <c:ptCount val="27"/>
                <c:pt idx="0">
                  <c:v>Czechia</c:v>
                </c:pt>
                <c:pt idx="1">
                  <c:v>Lithuania</c:v>
                </c:pt>
                <c:pt idx="2">
                  <c:v>Slovakia</c:v>
                </c:pt>
                <c:pt idx="3">
                  <c:v>Romania</c:v>
                </c:pt>
                <c:pt idx="4">
                  <c:v>Hungary</c:v>
                </c:pt>
                <c:pt idx="5">
                  <c:v>Latvia</c:v>
                </c:pt>
                <c:pt idx="6">
                  <c:v>Malta</c:v>
                </c:pt>
                <c:pt idx="7">
                  <c:v>Bulgaria</c:v>
                </c:pt>
                <c:pt idx="8">
                  <c:v>Estonia</c:v>
                </c:pt>
                <c:pt idx="9">
                  <c:v>Denmark</c:v>
                </c:pt>
                <c:pt idx="10">
                  <c:v>Netherlands</c:v>
                </c:pt>
                <c:pt idx="11">
                  <c:v>Italy</c:v>
                </c:pt>
                <c:pt idx="12">
                  <c:v>Poland</c:v>
                </c:pt>
                <c:pt idx="13">
                  <c:v>Sweden</c:v>
                </c:pt>
                <c:pt idx="14">
                  <c:v>Austria</c:v>
                </c:pt>
                <c:pt idx="15">
                  <c:v>Slovenia</c:v>
                </c:pt>
                <c:pt idx="16">
                  <c:v>Germany</c:v>
                </c:pt>
                <c:pt idx="17">
                  <c:v>Portugal</c:v>
                </c:pt>
                <c:pt idx="18">
                  <c:v>Cyprus</c:v>
                </c:pt>
                <c:pt idx="19">
                  <c:v>Ireland</c:v>
                </c:pt>
                <c:pt idx="20">
                  <c:v>Finland</c:v>
                </c:pt>
                <c:pt idx="21">
                  <c:v>Croatia</c:v>
                </c:pt>
                <c:pt idx="22">
                  <c:v>Belgium</c:v>
                </c:pt>
                <c:pt idx="23">
                  <c:v>France</c:v>
                </c:pt>
                <c:pt idx="24">
                  <c:v>Spain</c:v>
                </c:pt>
                <c:pt idx="25">
                  <c:v>Greece</c:v>
                </c:pt>
                <c:pt idx="26">
                  <c:v>Luxembourg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8</c:v>
                </c:pt>
                <c:pt idx="19">
                  <c:v>10</c:v>
                </c:pt>
                <c:pt idx="20">
                  <c:v>12</c:v>
                </c:pt>
                <c:pt idx="21">
                  <c:v>15</c:v>
                </c:pt>
                <c:pt idx="22">
                  <c:v>20</c:v>
                </c:pt>
                <c:pt idx="23">
                  <c:v>30</c:v>
                </c:pt>
                <c:pt idx="24">
                  <c:v>35</c:v>
                </c:pt>
                <c:pt idx="25">
                  <c:v>40</c:v>
                </c:pt>
                <c:pt idx="26">
                  <c:v>100</c:v>
                </c:pt>
              </c:numCache>
            </c:numRef>
          </c:val>
          <c:extLst xmlns:c16="http://schemas.microsoft.com/office/drawing/2014/chart">
            <c:ext xmlns:c16="http://schemas.microsoft.com/office/drawing/2014/chart" uri="{C3380CC4-5D6E-409C-BE32-E72D297353CC}">
              <c16:uniqueId val="{00000000-E01A-465E-82EE-2179CD0E494B}"/>
            </c:ext>
          </c:extLst>
        </c:ser>
        <c:ser>
          <c:idx val="1"/>
          <c:order val="1"/>
          <c:tx>
            <c:v>Decreasing</c:v>
          </c:tx>
          <c:spPr>
            <a:solidFill>
              <a:srgbClr val="2D8B75"/>
            </a:solidFill>
          </c:spPr>
          <c:invertIfNegative val="0"/>
          <c:cat>
            <c:strRef>
              <c:f>Sheet1!$A$2:$A$28</c:f>
              <c:strCache>
                <c:ptCount val="27"/>
                <c:pt idx="0">
                  <c:v>Czechia</c:v>
                </c:pt>
                <c:pt idx="1">
                  <c:v>Lithuania</c:v>
                </c:pt>
                <c:pt idx="2">
                  <c:v>Slovakia</c:v>
                </c:pt>
                <c:pt idx="3">
                  <c:v>Romania</c:v>
                </c:pt>
                <c:pt idx="4">
                  <c:v>Hungary</c:v>
                </c:pt>
                <c:pt idx="5">
                  <c:v>Latvia</c:v>
                </c:pt>
                <c:pt idx="6">
                  <c:v>Malta</c:v>
                </c:pt>
                <c:pt idx="7">
                  <c:v>Bulgaria</c:v>
                </c:pt>
                <c:pt idx="8">
                  <c:v>Estonia</c:v>
                </c:pt>
                <c:pt idx="9">
                  <c:v>Denmark</c:v>
                </c:pt>
                <c:pt idx="10">
                  <c:v>Netherlands</c:v>
                </c:pt>
                <c:pt idx="11">
                  <c:v>Italy</c:v>
                </c:pt>
                <c:pt idx="12">
                  <c:v>Poland</c:v>
                </c:pt>
                <c:pt idx="13">
                  <c:v>Sweden</c:v>
                </c:pt>
                <c:pt idx="14">
                  <c:v>Austria</c:v>
                </c:pt>
                <c:pt idx="15">
                  <c:v>Slovenia</c:v>
                </c:pt>
                <c:pt idx="16">
                  <c:v>Germany</c:v>
                </c:pt>
                <c:pt idx="17">
                  <c:v>Portugal</c:v>
                </c:pt>
                <c:pt idx="18">
                  <c:v>Cyprus</c:v>
                </c:pt>
                <c:pt idx="19">
                  <c:v>Ireland</c:v>
                </c:pt>
                <c:pt idx="20">
                  <c:v>Finland</c:v>
                </c:pt>
                <c:pt idx="21">
                  <c:v>Croatia</c:v>
                </c:pt>
                <c:pt idx="22">
                  <c:v>Belgium</c:v>
                </c:pt>
                <c:pt idx="23">
                  <c:v>France</c:v>
                </c:pt>
                <c:pt idx="24">
                  <c:v>Spain</c:v>
                </c:pt>
                <c:pt idx="25">
                  <c:v>Greece</c:v>
                </c:pt>
                <c:pt idx="26">
                  <c:v>Luxembourg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-55</c:v>
                </c:pt>
                <c:pt idx="1">
                  <c:v>-50</c:v>
                </c:pt>
                <c:pt idx="2">
                  <c:v>-45</c:v>
                </c:pt>
                <c:pt idx="3">
                  <c:v>-40</c:v>
                </c:pt>
                <c:pt idx="4">
                  <c:v>-35</c:v>
                </c:pt>
                <c:pt idx="5">
                  <c:v>-30</c:v>
                </c:pt>
                <c:pt idx="6">
                  <c:v>-28</c:v>
                </c:pt>
                <c:pt idx="7">
                  <c:v>-25</c:v>
                </c:pt>
                <c:pt idx="8">
                  <c:v>-22</c:v>
                </c:pt>
                <c:pt idx="9">
                  <c:v>-20</c:v>
                </c:pt>
                <c:pt idx="10">
                  <c:v>-18</c:v>
                </c:pt>
                <c:pt idx="11">
                  <c:v>-15</c:v>
                </c:pt>
                <c:pt idx="12">
                  <c:v>-12</c:v>
                </c:pt>
                <c:pt idx="13">
                  <c:v>-10</c:v>
                </c:pt>
                <c:pt idx="14">
                  <c:v>-8</c:v>
                </c:pt>
                <c:pt idx="15">
                  <c:v>-5</c:v>
                </c:pt>
                <c:pt idx="16">
                  <c:v>-3</c:v>
                </c:pt>
                <c:pt idx="17">
                  <c:v>-2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extLst xmlns:c16="http://schemas.microsoft.com/office/drawing/2014/chart">
            <c:ext xmlns:c16="http://schemas.microsoft.com/office/drawing/2014/chart" uri="{C3380CC4-5D6E-409C-BE32-E72D297353CC}">
              <c16:uniqueId val="{00000001-E01A-465E-82EE-2179CD0E4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00000020"/>
        <c:axId val="100000021"/>
      </c:barChart>
      <c:catAx>
        <c:axId val="100000020"/>
        <c:scaling>
          <c:orientation val="minMax"/>
        </c:scaling>
        <c:delete val="0"/>
        <c:axPos val="l"/>
        <c:numFmt formatCode="General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21"/>
        <c:crosses val="autoZero"/>
        <c:auto val="1"/>
        <c:lblAlgn val="ctr"/>
        <c:lblOffset val="100"/>
        <c:noMultiLvlLbl val="1"/>
      </c:catAx>
      <c:valAx>
        <c:axId val="100000021"/>
        <c:scaling>
          <c:orientation val="minMax"/>
        </c:scaling>
        <c:delete val="0"/>
        <c:axPos val="b"/>
        <c:majorGridlines/>
        <c:numFmt formatCode="0&quot;%&quot;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20"/>
        <c:crosses val="autoZero"/>
        <c:crossBetween val="between"/>
      </c:valAx>
      <c:spPr>
        <a:solidFill>
          <a:srgbClr val="F5F0EB"/>
        </a:solidFill>
      </c:spPr>
    </c:plotArea>
    <c:plotVisOnly val="1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ubbleChart>
        <c:varyColors val="0"/>
        <c:ser>
          <c:idx val="0"/>
          <c:order val="0"/>
          <c:tx>
            <c:v>LU</c:v>
          </c:tx>
          <c:spPr>
            <a:solidFill>
              <a:srgbClr val="E07B5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</c:f>
              <c:numCache>
                <c:formatCode>General</c:formatCode>
                <c:ptCount val="1"/>
                <c:pt idx="0">
                  <c:v>3500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yVal>
          <c:bubbleSize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7AE-4914-A864-B6B2CD43EAB0}"/>
            </c:ext>
          </c:extLst>
        </c:ser>
        <c:ser>
          <c:idx val="1"/>
          <c:order val="1"/>
          <c:tx>
            <c:v>BE</c:v>
          </c:tx>
          <c:spPr>
            <a:solidFill>
              <a:srgbClr val="E07B5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Sheet1!$D$2:$D$2</c:f>
              <c:numCache>
                <c:formatCode>General</c:formatCode>
                <c:ptCount val="1"/>
                <c:pt idx="0">
                  <c:v>2200</c:v>
                </c:pt>
              </c:numCache>
            </c:numRef>
          </c:xVal>
          <c:yVal>
            <c:numRef>
              <c:f>Sheet1!$E$2:$E$2</c:f>
              <c:numCache>
                <c:formatCode>General</c:formatCode>
                <c:ptCount val="1"/>
                <c:pt idx="0">
                  <c:v>10</c:v>
                </c:pt>
              </c:numCache>
            </c:numRef>
          </c:yVal>
          <c:bubbleSize>
            <c:numRef>
              <c:f>Sheet1!$F$2:$F$2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7AE-4914-A864-B6B2CD43EAB0}"/>
            </c:ext>
          </c:extLst>
        </c:ser>
        <c:ser>
          <c:idx val="2"/>
          <c:order val="2"/>
          <c:tx>
            <c:v>FR</c:v>
          </c:tx>
          <c:spPr>
            <a:solidFill>
              <a:srgbClr val="E07B5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Sheet1!$G$2:$G$2</c:f>
              <c:numCache>
                <c:formatCode>General</c:formatCode>
                <c:ptCount val="1"/>
                <c:pt idx="0">
                  <c:v>2500</c:v>
                </c:pt>
              </c:numCache>
            </c:numRef>
          </c:xVal>
          <c:yVal>
            <c:numRef>
              <c:f>Sheet1!$H$2:$H$2</c:f>
              <c:numCache>
                <c:formatCode>General</c:formatCode>
                <c:ptCount val="1"/>
                <c:pt idx="0">
                  <c:v>5</c:v>
                </c:pt>
              </c:numCache>
            </c:numRef>
          </c:yVal>
          <c:bubbleSize>
            <c:numRef>
              <c:f>Sheet1!$I$2:$I$2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7AE-4914-A864-B6B2CD43EAB0}"/>
            </c:ext>
          </c:extLst>
        </c:ser>
        <c:ser>
          <c:idx val="3"/>
          <c:order val="3"/>
          <c:tx>
            <c:v>AT</c:v>
          </c:tx>
          <c:spPr>
            <a:solidFill>
              <a:srgbClr val="E07B5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Sheet1!$J$2:$J$2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xVal>
          <c:yVal>
            <c:numRef>
              <c:f>Sheet1!$K$2:$K$2</c:f>
              <c:numCache>
                <c:formatCode>General</c:formatCode>
                <c:ptCount val="1"/>
                <c:pt idx="0">
                  <c:v>30</c:v>
                </c:pt>
              </c:numCache>
            </c:numRef>
          </c:yVal>
          <c:bubbleSize>
            <c:numRef>
              <c:f>Sheet1!$L$2:$L$2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77AE-4914-A864-B6B2CD43EAB0}"/>
            </c:ext>
          </c:extLst>
        </c:ser>
        <c:ser>
          <c:idx val="4"/>
          <c:order val="4"/>
          <c:tx>
            <c:v>FI</c:v>
          </c:tx>
          <c:spPr>
            <a:solidFill>
              <a:srgbClr val="E07B5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Sheet1!$M$2:$M$2</c:f>
              <c:numCache>
                <c:formatCode>General</c:formatCode>
                <c:ptCount val="1"/>
                <c:pt idx="0">
                  <c:v>1100</c:v>
                </c:pt>
              </c:numCache>
            </c:numRef>
          </c:xVal>
          <c:yVal>
            <c:numRef>
              <c:f>Sheet1!$N$2:$N$2</c:f>
              <c:numCache>
                <c:formatCode>General</c:formatCode>
                <c:ptCount val="1"/>
                <c:pt idx="0">
                  <c:v>25</c:v>
                </c:pt>
              </c:numCache>
            </c:numRef>
          </c:yVal>
          <c:bubbleSize>
            <c:numRef>
              <c:f>Sheet1!$O$2:$O$2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77AE-4914-A864-B6B2CD43EAB0}"/>
            </c:ext>
          </c:extLst>
        </c:ser>
        <c:ser>
          <c:idx val="5"/>
          <c:order val="5"/>
          <c:tx>
            <c:v>NL</c:v>
          </c:tx>
          <c:spPr>
            <a:solidFill>
              <a:srgbClr val="E07B5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Sheet1!$P$2:$P$2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xVal>
          <c:yVal>
            <c:numRef>
              <c:f>Sheet1!$Q$2:$Q$2</c:f>
              <c:numCache>
                <c:formatCode>General</c:formatCode>
                <c:ptCount val="1"/>
                <c:pt idx="0">
                  <c:v>25</c:v>
                </c:pt>
              </c:numCache>
            </c:numRef>
          </c:yVal>
          <c:bubbleSize>
            <c:numRef>
              <c:f>Sheet1!$R$2:$R$2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77AE-4914-A864-B6B2CD43EAB0}"/>
            </c:ext>
          </c:extLst>
        </c:ser>
        <c:ser>
          <c:idx val="6"/>
          <c:order val="6"/>
          <c:tx>
            <c:v>DE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Sheet1!$S$2:$S$2</c:f>
              <c:numCache>
                <c:formatCode>General</c:formatCode>
                <c:ptCount val="1"/>
                <c:pt idx="0">
                  <c:v>3100</c:v>
                </c:pt>
              </c:numCache>
            </c:numRef>
          </c:xVal>
          <c:yVal>
            <c:numRef>
              <c:f>Sheet1!$T$2:$T$2</c:f>
              <c:numCache>
                <c:formatCode>General</c:formatCode>
                <c:ptCount val="1"/>
                <c:pt idx="0">
                  <c:v>-15</c:v>
                </c:pt>
              </c:numCache>
            </c:numRef>
          </c:yVal>
          <c:bubbleSize>
            <c:numRef>
              <c:f>Sheet1!$U$2:$U$2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77AE-4914-A864-B6B2CD43EAB0}"/>
            </c:ext>
          </c:extLst>
        </c:ser>
        <c:ser>
          <c:idx val="7"/>
          <c:order val="7"/>
          <c:tx>
            <c:v>DK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Sheet1!$V$2:$V$2</c:f>
              <c:numCache>
                <c:formatCode>General</c:formatCode>
                <c:ptCount val="1"/>
                <c:pt idx="0">
                  <c:v>3200</c:v>
                </c:pt>
              </c:numCache>
            </c:numRef>
          </c:xVal>
          <c:yVal>
            <c:numRef>
              <c:f>Sheet1!$W$2:$W$2</c:f>
              <c:numCache>
                <c:formatCode>General</c:formatCode>
                <c:ptCount val="1"/>
                <c:pt idx="0">
                  <c:v>-50</c:v>
                </c:pt>
              </c:numCache>
            </c:numRef>
          </c:yVal>
          <c:bubbleSize>
            <c:numRef>
              <c:f>Sheet1!$X$2:$X$2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7-77AE-4914-A864-B6B2CD43EAB0}"/>
            </c:ext>
          </c:extLst>
        </c:ser>
        <c:ser>
          <c:idx val="8"/>
          <c:order val="8"/>
          <c:tx>
            <c:v>SE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Sheet1!$Y$2:$Y$2</c:f>
              <c:numCache>
                <c:formatCode>General</c:formatCode>
                <c:ptCount val="1"/>
                <c:pt idx="0">
                  <c:v>2800</c:v>
                </c:pt>
              </c:numCache>
            </c:numRef>
          </c:xVal>
          <c:yVal>
            <c:numRef>
              <c:f>Sheet1!$Z$2:$Z$2</c:f>
              <c:numCache>
                <c:formatCode>General</c:formatCode>
                <c:ptCount val="1"/>
                <c:pt idx="0">
                  <c:v>-5</c:v>
                </c:pt>
              </c:numCache>
            </c:numRef>
          </c:yVal>
          <c:bubbleSize>
            <c:numRef>
              <c:f>Sheet1!$AA$2:$AA$2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77AE-4914-A864-B6B2CD43EAB0}"/>
            </c:ext>
          </c:extLst>
        </c:ser>
        <c:ser>
          <c:idx val="9"/>
          <c:order val="9"/>
          <c:tx>
            <c:v>IE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Sheet1!$AB$2:$AB$2</c:f>
              <c:numCache>
                <c:formatCode>General</c:formatCode>
                <c:ptCount val="1"/>
                <c:pt idx="0">
                  <c:v>1800</c:v>
                </c:pt>
              </c:numCache>
            </c:numRef>
          </c:xVal>
          <c:yVal>
            <c:numRef>
              <c:f>Sheet1!$AC$2:$AC$2</c:f>
              <c:numCache>
                <c:formatCode>General</c:formatCode>
                <c:ptCount val="1"/>
                <c:pt idx="0">
                  <c:v>-10</c:v>
                </c:pt>
              </c:numCache>
            </c:numRef>
          </c:yVal>
          <c:bubbleSize>
            <c:numRef>
              <c:f>Sheet1!$AD$2:$AD$2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9-77AE-4914-A864-B6B2CD43EAB0}"/>
            </c:ext>
          </c:extLst>
        </c:ser>
        <c:ser>
          <c:idx val="10"/>
          <c:order val="10"/>
          <c:tx>
            <c:v>ES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Sheet1!$AE$2:$AE$2</c:f>
              <c:numCache>
                <c:formatCode>General</c:formatCode>
                <c:ptCount val="1"/>
                <c:pt idx="0">
                  <c:v>1800</c:v>
                </c:pt>
              </c:numCache>
            </c:numRef>
          </c:xVal>
          <c:yVal>
            <c:numRef>
              <c:f>Sheet1!$AF$2:$AF$2</c:f>
              <c:numCache>
                <c:formatCode>General</c:formatCode>
                <c:ptCount val="1"/>
                <c:pt idx="0">
                  <c:v>-30</c:v>
                </c:pt>
              </c:numCache>
            </c:numRef>
          </c:yVal>
          <c:bubbleSize>
            <c:numRef>
              <c:f>Sheet1!$AG$2:$AG$2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77AE-4914-A864-B6B2CD43EAB0}"/>
            </c:ext>
          </c:extLst>
        </c:ser>
        <c:ser>
          <c:idx val="11"/>
          <c:order val="11"/>
          <c:tx>
            <c:v>EL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Sheet1!$AH$2:$AH$2</c:f>
              <c:numCache>
                <c:formatCode>General</c:formatCode>
                <c:ptCount val="1"/>
                <c:pt idx="0">
                  <c:v>2000</c:v>
                </c:pt>
              </c:numCache>
            </c:numRef>
          </c:xVal>
          <c:yVal>
            <c:numRef>
              <c:f>Sheet1!$AI$2:$AI$2</c:f>
              <c:numCache>
                <c:formatCode>General</c:formatCode>
                <c:ptCount val="1"/>
                <c:pt idx="0">
                  <c:v>-20</c:v>
                </c:pt>
              </c:numCache>
            </c:numRef>
          </c:yVal>
          <c:bubbleSize>
            <c:numRef>
              <c:f>Sheet1!$AJ$2:$AJ$2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B-77AE-4914-A864-B6B2CD43EAB0}"/>
            </c:ext>
          </c:extLst>
        </c:ser>
        <c:ser>
          <c:idx val="12"/>
          <c:order val="12"/>
          <c:tx>
            <c:v>CZ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Sheet1!$AK$2:$AK$2</c:f>
              <c:numCache>
                <c:formatCode>General</c:formatCode>
                <c:ptCount val="1"/>
                <c:pt idx="0">
                  <c:v>1700</c:v>
                </c:pt>
              </c:numCache>
            </c:numRef>
          </c:xVal>
          <c:yVal>
            <c:numRef>
              <c:f>Sheet1!$AL$2:$AL$2</c:f>
              <c:numCache>
                <c:formatCode>General</c:formatCode>
                <c:ptCount val="1"/>
                <c:pt idx="0">
                  <c:v>-15</c:v>
                </c:pt>
              </c:numCache>
            </c:numRef>
          </c:yVal>
          <c:bubbleSize>
            <c:numRef>
              <c:f>Sheet1!$AM$2:$AM$2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77AE-4914-A864-B6B2CD43EAB0}"/>
            </c:ext>
          </c:extLst>
        </c:ser>
        <c:ser>
          <c:idx val="13"/>
          <c:order val="13"/>
          <c:tx>
            <c:v>EE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Sheet1!$AN$2:$AN$2</c:f>
              <c:numCache>
                <c:formatCode>General</c:formatCode>
                <c:ptCount val="1"/>
                <c:pt idx="0">
                  <c:v>1200</c:v>
                </c:pt>
              </c:numCache>
            </c:numRef>
          </c:xVal>
          <c:yVal>
            <c:numRef>
              <c:f>Sheet1!$AO$2:$AO$2</c:f>
              <c:numCache>
                <c:formatCode>General</c:formatCode>
                <c:ptCount val="1"/>
                <c:pt idx="0">
                  <c:v>-40</c:v>
                </c:pt>
              </c:numCache>
            </c:numRef>
          </c:yVal>
          <c:bubbleSize>
            <c:numRef>
              <c:f>Sheet1!$AP$2:$AP$2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D-77AE-4914-A864-B6B2CD43EAB0}"/>
            </c:ext>
          </c:extLst>
        </c:ser>
        <c:ser>
          <c:idx val="14"/>
          <c:order val="14"/>
          <c:tx>
            <c:v>HR</c:v>
          </c:tx>
          <c:spPr>
            <a:solidFill>
              <a:srgbClr val="70AD4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Sheet1!$AQ$2:$AQ$2</c:f>
              <c:numCache>
                <c:formatCode>General</c:formatCode>
                <c:ptCount val="1"/>
                <c:pt idx="0">
                  <c:v>800</c:v>
                </c:pt>
              </c:numCache>
            </c:numRef>
          </c:xVal>
          <c:yVal>
            <c:numRef>
              <c:f>Sheet1!$AR$2:$AR$2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bubbleSize>
            <c:numRef>
              <c:f>Sheet1!$AS$2:$AS$2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E-77AE-4914-A864-B6B2CD43EAB0}"/>
            </c:ext>
          </c:extLst>
        </c:ser>
        <c:ser>
          <c:idx val="15"/>
          <c:order val="15"/>
          <c:tx>
            <c:v>IT</c:v>
          </c:tx>
          <c:spPr>
            <a:solidFill>
              <a:srgbClr val="70AD4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Sheet1!$AT$2:$AT$2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xVal>
          <c:yVal>
            <c:numRef>
              <c:f>Sheet1!$AU$2:$AU$2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bubbleSize>
            <c:numRef>
              <c:f>Sheet1!$AV$2:$AV$2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F-77AE-4914-A864-B6B2CD43EAB0}"/>
            </c:ext>
          </c:extLst>
        </c:ser>
        <c:ser>
          <c:idx val="16"/>
          <c:order val="16"/>
          <c:tx>
            <c:v>PT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Sheet1!$AW$2:$AW$2</c:f>
              <c:numCache>
                <c:formatCode>General</c:formatCode>
                <c:ptCount val="1"/>
                <c:pt idx="0">
                  <c:v>900</c:v>
                </c:pt>
              </c:numCache>
            </c:numRef>
          </c:xVal>
          <c:yVal>
            <c:numRef>
              <c:f>Sheet1!$AX$2:$AX$2</c:f>
              <c:numCache>
                <c:formatCode>General</c:formatCode>
                <c:ptCount val="1"/>
                <c:pt idx="0">
                  <c:v>-35</c:v>
                </c:pt>
              </c:numCache>
            </c:numRef>
          </c:yVal>
          <c:bubbleSize>
            <c:numRef>
              <c:f>Sheet1!$AY$2:$AY$2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77AE-4914-A864-B6B2CD43EAB0}"/>
            </c:ext>
          </c:extLst>
        </c:ser>
        <c:ser>
          <c:idx val="17"/>
          <c:order val="17"/>
          <c:tx>
            <c:v>MT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Sheet1!$AZ$2:$AZ$2</c:f>
              <c:numCache>
                <c:formatCode>General</c:formatCode>
                <c:ptCount val="1"/>
                <c:pt idx="0">
                  <c:v>800</c:v>
                </c:pt>
              </c:numCache>
            </c:numRef>
          </c:xVal>
          <c:yVal>
            <c:numRef>
              <c:f>Sheet1!$BA$2:$BA$2</c:f>
              <c:numCache>
                <c:formatCode>General</c:formatCode>
                <c:ptCount val="1"/>
                <c:pt idx="0">
                  <c:v>-45</c:v>
                </c:pt>
              </c:numCache>
            </c:numRef>
          </c:yVal>
          <c:bubbleSize>
            <c:numRef>
              <c:f>Sheet1!$BB$2:$BB$2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1-77AE-4914-A864-B6B2CD43EAB0}"/>
            </c:ext>
          </c:extLst>
        </c:ser>
        <c:ser>
          <c:idx val="18"/>
          <c:order val="18"/>
          <c:tx>
            <c:v>SI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Sheet1!$BC$2:$BC$2</c:f>
              <c:numCache>
                <c:formatCode>General</c:formatCode>
                <c:ptCount val="1"/>
                <c:pt idx="0">
                  <c:v>700</c:v>
                </c:pt>
              </c:numCache>
            </c:numRef>
          </c:xVal>
          <c:yVal>
            <c:numRef>
              <c:f>Sheet1!$BD$2:$BD$2</c:f>
              <c:numCache>
                <c:formatCode>General</c:formatCode>
                <c:ptCount val="1"/>
                <c:pt idx="0">
                  <c:v>-45</c:v>
                </c:pt>
              </c:numCache>
            </c:numRef>
          </c:yVal>
          <c:bubbleSize>
            <c:numRef>
              <c:f>Sheet1!$BE$2:$BE$2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2-77AE-4914-A864-B6B2CD43EAB0}"/>
            </c:ext>
          </c:extLst>
        </c:ser>
        <c:ser>
          <c:idx val="19"/>
          <c:order val="19"/>
          <c:tx>
            <c:v>SK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Sheet1!$BF$2:$BF$2</c:f>
              <c:numCache>
                <c:formatCode>General</c:formatCode>
                <c:ptCount val="1"/>
                <c:pt idx="0">
                  <c:v>800</c:v>
                </c:pt>
              </c:numCache>
            </c:numRef>
          </c:xVal>
          <c:yVal>
            <c:numRef>
              <c:f>Sheet1!$BG$2:$BG$2</c:f>
              <c:numCache>
                <c:formatCode>General</c:formatCode>
                <c:ptCount val="1"/>
                <c:pt idx="0">
                  <c:v>-55</c:v>
                </c:pt>
              </c:numCache>
            </c:numRef>
          </c:yVal>
          <c:bubbleSize>
            <c:numRef>
              <c:f>Sheet1!$BH$2:$BH$2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3-77AE-4914-A864-B6B2CD43EAB0}"/>
            </c:ext>
          </c:extLst>
        </c:ser>
        <c:ser>
          <c:idx val="20"/>
          <c:order val="20"/>
          <c:tx>
            <c:v>PL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Sheet1!$BI$2:$BI$2</c:f>
              <c:numCache>
                <c:formatCode>General</c:formatCode>
                <c:ptCount val="1"/>
                <c:pt idx="0">
                  <c:v>700</c:v>
                </c:pt>
              </c:numCache>
            </c:numRef>
          </c:xVal>
          <c:yVal>
            <c:numRef>
              <c:f>Sheet1!$BJ$2:$BJ$2</c:f>
              <c:numCache>
                <c:formatCode>General</c:formatCode>
                <c:ptCount val="1"/>
                <c:pt idx="0">
                  <c:v>-50</c:v>
                </c:pt>
              </c:numCache>
            </c:numRef>
          </c:yVal>
          <c:bubbleSize>
            <c:numRef>
              <c:f>Sheet1!$BK$2:$BK$2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4-77AE-4914-A864-B6B2CD43EAB0}"/>
            </c:ext>
          </c:extLst>
        </c:ser>
        <c:ser>
          <c:idx val="21"/>
          <c:order val="21"/>
          <c:tx>
            <c:v>RO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Sheet1!$BL$2:$BL$2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xVal>
          <c:yVal>
            <c:numRef>
              <c:f>Sheet1!$BM$2:$BM$2</c:f>
              <c:numCache>
                <c:formatCode>General</c:formatCode>
                <c:ptCount val="1"/>
                <c:pt idx="0">
                  <c:v>-35</c:v>
                </c:pt>
              </c:numCache>
            </c:numRef>
          </c:yVal>
          <c:bubbleSize>
            <c:numRef>
              <c:f>Sheet1!$BN$2:$BN$2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5-77AE-4914-A864-B6B2CD43EAB0}"/>
            </c:ext>
          </c:extLst>
        </c:ser>
        <c:ser>
          <c:idx val="22"/>
          <c:order val="22"/>
          <c:tx>
            <c:v>BG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Sheet1!$BO$2:$BO$2</c:f>
              <c:numCache>
                <c:formatCode>General</c:formatCode>
                <c:ptCount val="1"/>
                <c:pt idx="0">
                  <c:v>600</c:v>
                </c:pt>
              </c:numCache>
            </c:numRef>
          </c:xVal>
          <c:yVal>
            <c:numRef>
              <c:f>Sheet1!$BP$2:$BP$2</c:f>
              <c:numCache>
                <c:formatCode>General</c:formatCode>
                <c:ptCount val="1"/>
                <c:pt idx="0">
                  <c:v>-40</c:v>
                </c:pt>
              </c:numCache>
            </c:numRef>
          </c:yVal>
          <c:bubbleSize>
            <c:numRef>
              <c:f>Sheet1!$BQ$2:$BQ$2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6-77AE-4914-A864-B6B2CD43EAB0}"/>
            </c:ext>
          </c:extLst>
        </c:ser>
        <c:ser>
          <c:idx val="23"/>
          <c:order val="23"/>
          <c:tx>
            <c:v>HU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Sheet1!$BR$2:$BR$2</c:f>
              <c:numCache>
                <c:formatCode>General</c:formatCode>
                <c:ptCount val="1"/>
                <c:pt idx="0">
                  <c:v>400</c:v>
                </c:pt>
              </c:numCache>
            </c:numRef>
          </c:xVal>
          <c:yVal>
            <c:numRef>
              <c:f>Sheet1!$BS$2:$BS$2</c:f>
              <c:numCache>
                <c:formatCode>General</c:formatCode>
                <c:ptCount val="1"/>
                <c:pt idx="0">
                  <c:v>-10</c:v>
                </c:pt>
              </c:numCache>
            </c:numRef>
          </c:yVal>
          <c:bubbleSize>
            <c:numRef>
              <c:f>Sheet1!$BT$2:$BT$2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7-77AE-4914-A864-B6B2CD43EAB0}"/>
            </c:ext>
          </c:extLst>
        </c:ser>
        <c:ser>
          <c:idx val="24"/>
          <c:order val="24"/>
          <c:tx>
            <c:v>LT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Sheet1!$BU$2:$BU$2</c:f>
              <c:numCache>
                <c:formatCode>General</c:formatCode>
                <c:ptCount val="1"/>
                <c:pt idx="0">
                  <c:v>600</c:v>
                </c:pt>
              </c:numCache>
            </c:numRef>
          </c:xVal>
          <c:yVal>
            <c:numRef>
              <c:f>Sheet1!$BV$2:$BV$2</c:f>
              <c:numCache>
                <c:formatCode>General</c:formatCode>
                <c:ptCount val="1"/>
                <c:pt idx="0">
                  <c:v>-15</c:v>
                </c:pt>
              </c:numCache>
            </c:numRef>
          </c:yVal>
          <c:bubbleSize>
            <c:numRef>
              <c:f>Sheet1!$BW$2:$BW$2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77AE-4914-A864-B6B2CD43EAB0}"/>
            </c:ext>
          </c:extLst>
        </c:ser>
        <c:ser>
          <c:idx val="25"/>
          <c:order val="25"/>
          <c:tx>
            <c:v>LV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Sheet1!$BX$2:$BX$2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xVal>
          <c:yVal>
            <c:numRef>
              <c:f>Sheet1!$BY$2:$BY$2</c:f>
              <c:numCache>
                <c:formatCode>General</c:formatCode>
                <c:ptCount val="1"/>
                <c:pt idx="0">
                  <c:v>-25</c:v>
                </c:pt>
              </c:numCache>
            </c:numRef>
          </c:yVal>
          <c:bubbleSize>
            <c:numRef>
              <c:f>Sheet1!$BZ$2:$BZ$2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9-77AE-4914-A864-B6B2CD43EAB0}"/>
            </c:ext>
          </c:extLst>
        </c:ser>
        <c:ser>
          <c:idx val="26"/>
          <c:order val="26"/>
          <c:tx>
            <c:v>CY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4="http://schemas.microsoft.com/office/drawing/2007/8/2/chart"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Sheet1!$CA$2:$CA$2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xVal>
          <c:yVal>
            <c:numRef>
              <c:f>Sheet1!$CB$2:$CB$2</c:f>
              <c:numCache>
                <c:formatCode>General</c:formatCode>
                <c:ptCount val="1"/>
                <c:pt idx="0">
                  <c:v>-20</c:v>
                </c:pt>
              </c:numCache>
            </c:numRef>
          </c:yVal>
          <c:bubbleSize>
            <c:numRef>
              <c:f>Sheet1!$CC$2:$CC$2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4="http://schemas.microsoft.com/office/drawing/2007/8/2/chart" xmlns:c15="http://schemas.microsoft.com/office/drawing/2012/chart" xmlns:c16="http://schemas.microsoft.com/office/drawing/2014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A-77AE-4914-A864-B6B2CD43E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40"/>
        <c:showNegBubbles val="1"/>
        <c:sizeRepresents val="w"/>
        <c:axId val="100000062"/>
        <c:axId val="100000063"/>
      </c:bubbleChart>
      <c:valAx>
        <c:axId val="100000062"/>
        <c:scaling>
          <c:orientation val="minMax"/>
        </c:scaling>
        <c:delete val="0"/>
        <c:axPos val="b"/>
        <c:numFmt formatCode="General" sourceLinked="1"/>
        <c:majorTickMark val="cross"/>
        <c:minorTickMark val="cross"/>
        <c:tickLblPos val="nextTo"/>
        <c:crossAx val="100000063"/>
        <c:crosses val="autoZero"/>
        <c:crossBetween val="midCat"/>
      </c:valAx>
      <c:valAx>
        <c:axId val="100000063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00000062"/>
        <c:crosses val="autoZero"/>
        <c:crossBetween val="midCat"/>
      </c:valAx>
      <c:spPr>
        <a:solidFill>
          <a:srgbClr val="FFFFFF"/>
        </a:solidFill>
      </c:spPr>
    </c:plotArea>
    <c:plotVisOnly val="1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LU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01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</c:f>
              <c:numCache>
                <c:formatCode>General</c:formatCode>
                <c:ptCount val="1"/>
                <c:pt idx="0">
                  <c:v>3500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0-2685-4126-8490-C679E300DC5E}"/>
            </c:ext>
          </c:extLst>
        </c:ser>
        <c:ser>
          <c:idx val="1"/>
          <c:order val="1"/>
          <c:tx>
            <c:v>BE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03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Sheet1!$C$2:$C$2</c:f>
              <c:numCache>
                <c:formatCode>General</c:formatCode>
                <c:ptCount val="1"/>
                <c:pt idx="0">
                  <c:v>2200</c:v>
                </c:pt>
              </c:numCache>
            </c:numRef>
          </c:xVal>
          <c:yVal>
            <c:numRef>
              <c:f>Sheet1!$D$2:$D$2</c:f>
              <c:numCache>
                <c:formatCode>General</c:formatCode>
                <c:ptCount val="1"/>
                <c:pt idx="0">
                  <c:v>10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1-2685-4126-8490-C679E300DC5E}"/>
            </c:ext>
          </c:extLst>
        </c:ser>
        <c:ser>
          <c:idx val="2"/>
          <c:order val="2"/>
          <c:tx>
            <c:v>FR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05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Sheet1!$E$2:$E$2</c:f>
              <c:numCache>
                <c:formatCode>General</c:formatCode>
                <c:ptCount val="1"/>
                <c:pt idx="0">
                  <c:v>2500</c:v>
                </c:pt>
              </c:numCache>
            </c:numRef>
          </c:xVal>
          <c:yVal>
            <c:numRef>
              <c:f>Sheet1!$F$2:$F$2</c:f>
              <c:numCache>
                <c:formatCode>General</c:formatCode>
                <c:ptCount val="1"/>
                <c:pt idx="0">
                  <c:v>5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2-2685-4126-8490-C679E300DC5E}"/>
            </c:ext>
          </c:extLst>
        </c:ser>
        <c:ser>
          <c:idx val="3"/>
          <c:order val="3"/>
          <c:tx>
            <c:v>AT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07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Sheet1!$G$2:$G$2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xVal>
          <c:yVal>
            <c:numRef>
              <c:f>Sheet1!$H$2:$H$2</c:f>
              <c:numCache>
                <c:formatCode>General</c:formatCode>
                <c:ptCount val="1"/>
                <c:pt idx="0">
                  <c:v>30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3-2685-4126-8490-C679E300DC5E}"/>
            </c:ext>
          </c:extLst>
        </c:ser>
        <c:ser>
          <c:idx val="4"/>
          <c:order val="4"/>
          <c:tx>
            <c:v>FI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09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Sheet1!$I$2:$I$2</c:f>
              <c:numCache>
                <c:formatCode>General</c:formatCode>
                <c:ptCount val="1"/>
                <c:pt idx="0">
                  <c:v>1100</c:v>
                </c:pt>
              </c:numCache>
            </c:numRef>
          </c:xVal>
          <c:yVal>
            <c:numRef>
              <c:f>Sheet1!$J$2:$J$2</c:f>
              <c:numCache>
                <c:formatCode>General</c:formatCode>
                <c:ptCount val="1"/>
                <c:pt idx="0">
                  <c:v>25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4-2685-4126-8490-C679E300DC5E}"/>
            </c:ext>
          </c:extLst>
        </c:ser>
        <c:ser>
          <c:idx val="5"/>
          <c:order val="5"/>
          <c:tx>
            <c:v>NL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0B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Sheet1!$K$2:$K$2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xVal>
          <c:yVal>
            <c:numRef>
              <c:f>Sheet1!$L$2:$L$2</c:f>
              <c:numCache>
                <c:formatCode>General</c:formatCode>
                <c:ptCount val="1"/>
                <c:pt idx="0">
                  <c:v>25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5-2685-4126-8490-C679E300DC5E}"/>
            </c:ext>
          </c:extLst>
        </c:ser>
        <c:ser>
          <c:idx val="6"/>
          <c:order val="6"/>
          <c:tx>
            <c:v>DE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0D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Sheet1!$M$2:$M$2</c:f>
              <c:numCache>
                <c:formatCode>General</c:formatCode>
                <c:ptCount val="1"/>
                <c:pt idx="0">
                  <c:v>3100</c:v>
                </c:pt>
              </c:numCache>
            </c:numRef>
          </c:xVal>
          <c:yVal>
            <c:numRef>
              <c:f>Sheet1!$N$2:$N$2</c:f>
              <c:numCache>
                <c:formatCode>General</c:formatCode>
                <c:ptCount val="1"/>
                <c:pt idx="0">
                  <c:v>-15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6-2685-4126-8490-C679E300DC5E}"/>
            </c:ext>
          </c:extLst>
        </c:ser>
        <c:ser>
          <c:idx val="7"/>
          <c:order val="7"/>
          <c:tx>
            <c:v>DK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0F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Sheet1!$O$2:$O$2</c:f>
              <c:numCache>
                <c:formatCode>General</c:formatCode>
                <c:ptCount val="1"/>
                <c:pt idx="0">
                  <c:v>3200</c:v>
                </c:pt>
              </c:numCache>
            </c:numRef>
          </c:xVal>
          <c:yVal>
            <c:numRef>
              <c:f>Sheet1!$P$2:$P$2</c:f>
              <c:numCache>
                <c:formatCode>General</c:formatCode>
                <c:ptCount val="1"/>
                <c:pt idx="0">
                  <c:v>-50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7-2685-4126-8490-C679E300DC5E}"/>
            </c:ext>
          </c:extLst>
        </c:ser>
        <c:ser>
          <c:idx val="8"/>
          <c:order val="8"/>
          <c:tx>
            <c:v>SE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11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Sheet1!$Q$2:$Q$2</c:f>
              <c:numCache>
                <c:formatCode>General</c:formatCode>
                <c:ptCount val="1"/>
                <c:pt idx="0">
                  <c:v>2800</c:v>
                </c:pt>
              </c:numCache>
            </c:numRef>
          </c:xVal>
          <c:yVal>
            <c:numRef>
              <c:f>Sheet1!$R$2:$R$2</c:f>
              <c:numCache>
                <c:formatCode>General</c:formatCode>
                <c:ptCount val="1"/>
                <c:pt idx="0">
                  <c:v>-5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8-2685-4126-8490-C679E300DC5E}"/>
            </c:ext>
          </c:extLst>
        </c:ser>
        <c:ser>
          <c:idx val="9"/>
          <c:order val="9"/>
          <c:tx>
            <c:v>IE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13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Sheet1!$S$2:$S$2</c:f>
              <c:numCache>
                <c:formatCode>General</c:formatCode>
                <c:ptCount val="1"/>
                <c:pt idx="0">
                  <c:v>1800</c:v>
                </c:pt>
              </c:numCache>
            </c:numRef>
          </c:xVal>
          <c:yVal>
            <c:numRef>
              <c:f>Sheet1!$T$2:$T$2</c:f>
              <c:numCache>
                <c:formatCode>General</c:formatCode>
                <c:ptCount val="1"/>
                <c:pt idx="0">
                  <c:v>-10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9-2685-4126-8490-C679E300DC5E}"/>
            </c:ext>
          </c:extLst>
        </c:ser>
        <c:ser>
          <c:idx val="10"/>
          <c:order val="10"/>
          <c:tx>
            <c:v>ES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15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Sheet1!$U$2:$U$2</c:f>
              <c:numCache>
                <c:formatCode>General</c:formatCode>
                <c:ptCount val="1"/>
                <c:pt idx="0">
                  <c:v>1800</c:v>
                </c:pt>
              </c:numCache>
            </c:numRef>
          </c:xVal>
          <c:yVal>
            <c:numRef>
              <c:f>Sheet1!$V$2:$V$2</c:f>
              <c:numCache>
                <c:formatCode>General</c:formatCode>
                <c:ptCount val="1"/>
                <c:pt idx="0">
                  <c:v>-30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A-2685-4126-8490-C679E300DC5E}"/>
            </c:ext>
          </c:extLst>
        </c:ser>
        <c:ser>
          <c:idx val="11"/>
          <c:order val="11"/>
          <c:tx>
            <c:v>EL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17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Sheet1!$W$2:$W$2</c:f>
              <c:numCache>
                <c:formatCode>General</c:formatCode>
                <c:ptCount val="1"/>
                <c:pt idx="0">
                  <c:v>2000</c:v>
                </c:pt>
              </c:numCache>
            </c:numRef>
          </c:xVal>
          <c:yVal>
            <c:numRef>
              <c:f>Sheet1!$X$2:$X$2</c:f>
              <c:numCache>
                <c:formatCode>General</c:formatCode>
                <c:ptCount val="1"/>
                <c:pt idx="0">
                  <c:v>-20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B-2685-4126-8490-C679E300DC5E}"/>
            </c:ext>
          </c:extLst>
        </c:ser>
        <c:ser>
          <c:idx val="12"/>
          <c:order val="12"/>
          <c:tx>
            <c:v>CZ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19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Sheet1!$Y$2:$Y$2</c:f>
              <c:numCache>
                <c:formatCode>General</c:formatCode>
                <c:ptCount val="1"/>
                <c:pt idx="0">
                  <c:v>1700</c:v>
                </c:pt>
              </c:numCache>
            </c:numRef>
          </c:xVal>
          <c:yVal>
            <c:numRef>
              <c:f>Sheet1!$Z$2:$Z$2</c:f>
              <c:numCache>
                <c:formatCode>General</c:formatCode>
                <c:ptCount val="1"/>
                <c:pt idx="0">
                  <c:v>-15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C-2685-4126-8490-C679E300DC5E}"/>
            </c:ext>
          </c:extLst>
        </c:ser>
        <c:ser>
          <c:idx val="13"/>
          <c:order val="13"/>
          <c:tx>
            <c:v>EE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1B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Sheet1!$AA$2:$AA$2</c:f>
              <c:numCache>
                <c:formatCode>General</c:formatCode>
                <c:ptCount val="1"/>
                <c:pt idx="0">
                  <c:v>1200</c:v>
                </c:pt>
              </c:numCache>
            </c:numRef>
          </c:xVal>
          <c:yVal>
            <c:numRef>
              <c:f>Sheet1!$AB$2:$AB$2</c:f>
              <c:numCache>
                <c:formatCode>General</c:formatCode>
                <c:ptCount val="1"/>
                <c:pt idx="0">
                  <c:v>-40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D-2685-4126-8490-C679E300DC5E}"/>
            </c:ext>
          </c:extLst>
        </c:ser>
        <c:ser>
          <c:idx val="14"/>
          <c:order val="14"/>
          <c:tx>
            <c:v>HR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1D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Sheet1!$AC$2:$AC$2</c:f>
              <c:numCache>
                <c:formatCode>General</c:formatCode>
                <c:ptCount val="1"/>
                <c:pt idx="0">
                  <c:v>800</c:v>
                </c:pt>
              </c:numCache>
            </c:numRef>
          </c:xVal>
          <c:yVal>
            <c:numRef>
              <c:f>Sheet1!$AD$2:$AD$2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E-2685-4126-8490-C679E300DC5E}"/>
            </c:ext>
          </c:extLst>
        </c:ser>
        <c:ser>
          <c:idx val="15"/>
          <c:order val="15"/>
          <c:tx>
            <c:v>IT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1F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Sheet1!$AE$2:$AE$2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xVal>
          <c:yVal>
            <c:numRef>
              <c:f>Sheet1!$AF$2:$AF$2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0F-2685-4126-8490-C679E300DC5E}"/>
            </c:ext>
          </c:extLst>
        </c:ser>
        <c:ser>
          <c:idx val="16"/>
          <c:order val="16"/>
          <c:tx>
            <c:v>PT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21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Sheet1!$AG$2:$AG$2</c:f>
              <c:numCache>
                <c:formatCode>General</c:formatCode>
                <c:ptCount val="1"/>
                <c:pt idx="0">
                  <c:v>900</c:v>
                </c:pt>
              </c:numCache>
            </c:numRef>
          </c:xVal>
          <c:yVal>
            <c:numRef>
              <c:f>Sheet1!$AH$2:$AH$2</c:f>
              <c:numCache>
                <c:formatCode>General</c:formatCode>
                <c:ptCount val="1"/>
                <c:pt idx="0">
                  <c:v>-35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10-2685-4126-8490-C679E300DC5E}"/>
            </c:ext>
          </c:extLst>
        </c:ser>
        <c:ser>
          <c:idx val="17"/>
          <c:order val="17"/>
          <c:tx>
            <c:v>MT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23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Sheet1!$AI$2:$AI$2</c:f>
              <c:numCache>
                <c:formatCode>General</c:formatCode>
                <c:ptCount val="1"/>
                <c:pt idx="0">
                  <c:v>800</c:v>
                </c:pt>
              </c:numCache>
            </c:numRef>
          </c:xVal>
          <c:yVal>
            <c:numRef>
              <c:f>Sheet1!$AJ$2:$AJ$2</c:f>
              <c:numCache>
                <c:formatCode>General</c:formatCode>
                <c:ptCount val="1"/>
                <c:pt idx="0">
                  <c:v>-45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11-2685-4126-8490-C679E300DC5E}"/>
            </c:ext>
          </c:extLst>
        </c:ser>
        <c:ser>
          <c:idx val="18"/>
          <c:order val="18"/>
          <c:tx>
            <c:v>SI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25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Sheet1!$AK$2:$AK$2</c:f>
              <c:numCache>
                <c:formatCode>General</c:formatCode>
                <c:ptCount val="1"/>
                <c:pt idx="0">
                  <c:v>700</c:v>
                </c:pt>
              </c:numCache>
            </c:numRef>
          </c:xVal>
          <c:yVal>
            <c:numRef>
              <c:f>Sheet1!$AL$2:$AL$2</c:f>
              <c:numCache>
                <c:formatCode>General</c:formatCode>
                <c:ptCount val="1"/>
                <c:pt idx="0">
                  <c:v>-45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12-2685-4126-8490-C679E300DC5E}"/>
            </c:ext>
          </c:extLst>
        </c:ser>
        <c:ser>
          <c:idx val="19"/>
          <c:order val="19"/>
          <c:tx>
            <c:v>SK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27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Sheet1!$AM$2:$AM$2</c:f>
              <c:numCache>
                <c:formatCode>General</c:formatCode>
                <c:ptCount val="1"/>
                <c:pt idx="0">
                  <c:v>800</c:v>
                </c:pt>
              </c:numCache>
            </c:numRef>
          </c:xVal>
          <c:yVal>
            <c:numRef>
              <c:f>Sheet1!$AN$2:$AN$2</c:f>
              <c:numCache>
                <c:formatCode>General</c:formatCode>
                <c:ptCount val="1"/>
                <c:pt idx="0">
                  <c:v>-55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13-2685-4126-8490-C679E300DC5E}"/>
            </c:ext>
          </c:extLst>
        </c:ser>
        <c:ser>
          <c:idx val="20"/>
          <c:order val="20"/>
          <c:tx>
            <c:v>PL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29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Sheet1!$AO$2:$AO$2</c:f>
              <c:numCache>
                <c:formatCode>General</c:formatCode>
                <c:ptCount val="1"/>
                <c:pt idx="0">
                  <c:v>700</c:v>
                </c:pt>
              </c:numCache>
            </c:numRef>
          </c:xVal>
          <c:yVal>
            <c:numRef>
              <c:f>Sheet1!$AP$2:$AP$2</c:f>
              <c:numCache>
                <c:formatCode>General</c:formatCode>
                <c:ptCount val="1"/>
                <c:pt idx="0">
                  <c:v>-50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14-2685-4126-8490-C679E300DC5E}"/>
            </c:ext>
          </c:extLst>
        </c:ser>
        <c:ser>
          <c:idx val="21"/>
          <c:order val="21"/>
          <c:tx>
            <c:v>RO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2B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Sheet1!$AQ$2:$AQ$2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xVal>
          <c:yVal>
            <c:numRef>
              <c:f>Sheet1!$AR$2:$AR$2</c:f>
              <c:numCache>
                <c:formatCode>General</c:formatCode>
                <c:ptCount val="1"/>
                <c:pt idx="0">
                  <c:v>-35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15-2685-4126-8490-C679E300DC5E}"/>
            </c:ext>
          </c:extLst>
        </c:ser>
        <c:ser>
          <c:idx val="22"/>
          <c:order val="22"/>
          <c:tx>
            <c:v>BG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2D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Sheet1!$AS$2:$AS$2</c:f>
              <c:numCache>
                <c:formatCode>General</c:formatCode>
                <c:ptCount val="1"/>
                <c:pt idx="0">
                  <c:v>600</c:v>
                </c:pt>
              </c:numCache>
            </c:numRef>
          </c:xVal>
          <c:yVal>
            <c:numRef>
              <c:f>Sheet1!$AT$2:$AT$2</c:f>
              <c:numCache>
                <c:formatCode>General</c:formatCode>
                <c:ptCount val="1"/>
                <c:pt idx="0">
                  <c:v>-40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16-2685-4126-8490-C679E300DC5E}"/>
            </c:ext>
          </c:extLst>
        </c:ser>
        <c:ser>
          <c:idx val="23"/>
          <c:order val="23"/>
          <c:tx>
            <c:v>HU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2F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Sheet1!$AU$2:$AU$2</c:f>
              <c:numCache>
                <c:formatCode>General</c:formatCode>
                <c:ptCount val="1"/>
                <c:pt idx="0">
                  <c:v>400</c:v>
                </c:pt>
              </c:numCache>
            </c:numRef>
          </c:xVal>
          <c:yVal>
            <c:numRef>
              <c:f>Sheet1!$AV$2:$AV$2</c:f>
              <c:numCache>
                <c:formatCode>General</c:formatCode>
                <c:ptCount val="1"/>
                <c:pt idx="0">
                  <c:v>-10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17-2685-4126-8490-C679E300DC5E}"/>
            </c:ext>
          </c:extLst>
        </c:ser>
        <c:ser>
          <c:idx val="24"/>
          <c:order val="24"/>
          <c:tx>
            <c:v>LT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31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Sheet1!$AW$2:$AW$2</c:f>
              <c:numCache>
                <c:formatCode>General</c:formatCode>
                <c:ptCount val="1"/>
                <c:pt idx="0">
                  <c:v>600</c:v>
                </c:pt>
              </c:numCache>
            </c:numRef>
          </c:xVal>
          <c:yVal>
            <c:numRef>
              <c:f>Sheet1!$AX$2:$AX$2</c:f>
              <c:numCache>
                <c:formatCode>General</c:formatCode>
                <c:ptCount val="1"/>
                <c:pt idx="0">
                  <c:v>-15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18-2685-4126-8490-C679E300DC5E}"/>
            </c:ext>
          </c:extLst>
        </c:ser>
        <c:ser>
          <c:idx val="25"/>
          <c:order val="25"/>
          <c:tx>
            <c:v>LV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33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Sheet1!$AY$2:$AY$2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xVal>
          <c:yVal>
            <c:numRef>
              <c:f>Sheet1!$AZ$2:$AZ$2</c:f>
              <c:numCache>
                <c:formatCode>General</c:formatCode>
                <c:ptCount val="1"/>
                <c:pt idx="0">
                  <c:v>-25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19-2685-4126-8490-C679E300DC5E}"/>
            </c:ext>
          </c:extLst>
        </c:ser>
        <c:ser>
          <c:idx val="26"/>
          <c:order val="26"/>
          <c:tx>
            <c:v>CY</c:v>
          </c:tx>
          <c:marker>
            <c:symbol val="circle"/>
            <c:size val="8"/>
          </c:marker>
          <c:dPt>
            <c:idx val="0"/>
            <c:bubble3D val="0"/>
            <c:extLst xmlns:c15="http://schemas.microsoft.com/office/drawing/2012/chart" xmlns:c16="http://schemas.microsoft.com/office/drawing/2014/chart">
              <c:ext xmlns:c16="http://schemas.microsoft.com/office/drawing/2014/chart" uri="{C3380CC4-5D6E-409C-BE32-E72D297353CC}">
                <c16:uniqueId val="{00000035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6="http://schemas.microsoft.com/office/drawing/2014/chart"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Sheet1!$BA$2:$BA$2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xVal>
          <c:yVal>
            <c:numRef>
              <c:f>Sheet1!$BB$2:$BB$2</c:f>
              <c:numCache>
                <c:formatCode>General</c:formatCode>
                <c:ptCount val="1"/>
                <c:pt idx="0">
                  <c:v>-20</c:v>
                </c:pt>
              </c:numCache>
            </c:numRef>
          </c:yVal>
          <c:smooth val="1"/>
          <c:extLst xmlns:c15="http://schemas.microsoft.com/office/drawing/2012/chart" xmlns:c16="http://schemas.microsoft.com/office/drawing/2014/chart">
            <c:ext xmlns:c16="http://schemas.microsoft.com/office/drawing/2014/chart" uri="{C3380CC4-5D6E-409C-BE32-E72D297353CC}">
              <c16:uniqueId val="{0000001A-2685-4126-8490-C679E300DC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000064"/>
        <c:axId val="100000065"/>
      </c:scatterChart>
      <c:valAx>
        <c:axId val="100000064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US"/>
                  <a:t>Trend</a:t>
                </a:r>
              </a:p>
            </c:rich>
          </c:tx>
          <c:overlay val="0"/>
        </c:title>
        <c:numFmt formatCode="0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65"/>
        <c:crosses val="autoZero"/>
        <c:crossBetween val="midCat"/>
      </c:valAx>
      <c:valAx>
        <c:axId val="100000065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00000064"/>
        <c:crosses val="autoZero"/>
        <c:crossBetween val="midCat"/>
      </c:valAx>
      <c:spPr>
        <a:solidFill>
          <a:srgbClr val="FFFFFF">
            <a:alpha val="0"/>
          </a:srgbClr>
        </a:solidFill>
      </c:spPr>
    </c:plotArea>
    <c:plotVisOnly val="1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6EE4-61CE-8569-1F34-AF91CB38B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9FB4C-A496-1EDA-1D95-39D110FE2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535F2-93ED-F409-D145-A49042A4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80A71-9D68-4E30-6859-DFFDE0765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1D589-304E-96EC-05DE-DE403D38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30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4B842-7DF0-F84A-A6B5-CEFD6B1AB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17EF4-2D98-7107-866A-D04797012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75779-EBB4-312C-5DD8-9CB70153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62D94-3788-9452-B8B1-F4D59505A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D308B-895A-C015-2C86-8918E878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1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E557-2973-5ADE-BB30-76EBC7C23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B1031-989B-82BA-AF62-5557CB4E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55167-0449-83C0-8676-4430287A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C1820-B9B2-B82B-8D3B-9CA97180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3975-85DA-46D3-C130-B31A1DC3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411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1FF8-EED8-7F30-3831-60CC45EAF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707EA-D7DF-4537-81B8-588590B1E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5879-4DA7-7E39-CDBD-802836F4F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BE061-B94E-2F43-1820-D1974749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D804F-A93D-B6AD-8B88-7942DF63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C5C73-B570-5305-C8BB-E4986EB8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40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CB6F-D470-8938-2681-A4DF12B62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48E36-DDFF-D6DD-CF5B-5F95A51BB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1A71D-570B-8BB5-F1C8-7A34C07E4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07DB4E-1F9D-B5FE-FC39-15D0F0FAD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29FE02-8C93-DBF3-278C-B41B35129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DD7ED-ABA4-272B-52E4-DBC7BDC29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3583B1-E841-47B1-FA7B-2242118EF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548214-E191-CA65-0A9F-6021117C2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03C7E-8C0B-12CA-E785-0D95D781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9B67C-D531-59F1-1A39-7A357321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01455-81F9-0BB0-9D0F-5E0EBE5CB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DE352D-6CD1-1171-701E-7BA398E5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3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62D32D-9382-FBD0-595F-018D0406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9CCA0-2ABF-CD10-057A-F37DF02A5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03A21-2A8A-5659-A451-BAFFD7DE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02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0FC8-F0BF-6D75-0CC6-48C0C4DD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B9F99-5526-D4CC-6D83-161CBF9CB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8F6DD-FCF7-BA6A-9759-0649DCBAF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80E35-4A59-1F45-3CA5-4D2D67A4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C6FF3-491F-5088-67F8-69DE98E7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4DA7E-3332-8DA1-DF2A-04A0FE408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60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25CC-C286-DC20-5AEC-8762AD61E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DD96C7-B5B5-6159-B024-5BB4ECD0C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602A5-C325-0562-FB50-3D6EA8838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12119-35B3-7B33-22E7-8EE9F7FA8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9C85A-5383-BB48-8932-3526D61C9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5B949-6D51-C240-67FC-631FDC6A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9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40B-921D-FDA1-FC7B-4FF43B0C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393D8-6549-75CB-E8D7-53FD97DDA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DC187-420F-5A3A-3F2A-46FF2344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019C8-B440-3EB4-7EED-250DE404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97BE1-BF57-6FE7-ECBD-A971F34A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0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688D9F-E1C0-3108-6774-E2E02B681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80709-AD27-A9B2-5D2C-56379615F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10F48-371E-78D4-1DAF-D3AE15B4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2ECF5-8967-80C6-43B5-530DD1745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1B92F-0108-7E1E-F26F-71AD621BF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04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D01CF6-89B1-3BC1-CBD1-06FD93938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1CE12-1188-B412-5883-79A2FB6FB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8AEB0-3CB7-FD38-CD5B-2F73AAB31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6D3D5-A623-32ED-137E-041B0C4F4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AABB9-CC99-68E3-5A76-8131674F7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9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5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solidFill>
            <a:srgbClr val="1B2838">
              <a:alpha val="8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 Box 1"/>
          <p:cNvSpPr txBox="1"/>
          <p:nvPr/>
        </p:nvSpPr>
        <p:spPr>
          <a:xfrm>
            <a:off x="635000" y="1905000"/>
            <a:ext cx="4064000" cy="1524000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rPr lang="en-US" sz="4600" b="0" i="0" u="none">
                <a:solidFill>
                  <a:srgbClr val="FFFFFF"/>
                </a:solidFill>
                <a:latin typeface="+mj-lt"/>
              </a:rPr>
              <a:t>Beyond the Rankings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35000" y="3530600"/>
            <a:ext cx="3937000" cy="825500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rPr lang="en-US" sz="1800" b="0" i="0" u="none">
                <a:solidFill>
                  <a:srgbClr val="E8DED4"/>
                </a:solidFill>
                <a:latin typeface="+mj-lt"/>
              </a:rPr>
              <a:t>Why Europe's Crime Data Tells a Different Story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35000" y="5969000"/>
            <a:ext cx="3937000" cy="317500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rPr lang="en-US" sz="1000" b="0" i="0" u="none">
                <a:solidFill>
                  <a:srgbClr val="D4C5B4"/>
                </a:solidFill>
                <a:latin typeface="+mn-lt"/>
              </a:rPr>
              <a:t>Based on Eurostat Crime Statistics · 2014–2023</a:t>
            </a:r>
          </a:p>
        </p:txBody>
      </p:sp>
      <p:sp>
        <p:nvSpPr>
          <p:cNvPr id="5" name="rectangle 1"/>
          <p:cNvSpPr/>
          <p:nvPr/>
        </p:nvSpPr>
        <p:spPr>
          <a:xfrm>
            <a:off x="4889500" y="508000"/>
            <a:ext cx="3810000" cy="5842000"/>
          </a:xfrm>
          <a:prstGeom prst="roundRect">
            <a:avLst>
              <a:gd name="adj" fmla="val 4000"/>
            </a:avLst>
          </a:prstGeom>
          <a:solidFill>
            <a:srgbClr val="E8DE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2"/>
          <p:cNvSpPr/>
          <p:nvPr/>
        </p:nvSpPr>
        <p:spPr>
          <a:xfrm>
            <a:off x="5143500" y="762000"/>
            <a:ext cx="3302000" cy="2540000"/>
          </a:xfrm>
          <a:prstGeom prst="roundRect">
            <a:avLst>
              <a:gd name="adj" fmla="val 3000"/>
            </a:avLst>
          </a:prstGeom>
          <a:solidFill>
            <a:srgbClr val="D4C5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3"/>
          <p:cNvSpPr/>
          <p:nvPr/>
        </p:nvSpPr>
        <p:spPr>
          <a:xfrm>
            <a:off x="5143500" y="3429000"/>
            <a:ext cx="1587500" cy="2667000"/>
          </a:xfrm>
          <a:prstGeom prst="roundRect">
            <a:avLst>
              <a:gd name="adj" fmla="val 3000"/>
            </a:avLst>
          </a:prstGeom>
          <a:solidFill>
            <a:srgbClr val="C4B5A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ectangle 4"/>
          <p:cNvSpPr/>
          <p:nvPr/>
        </p:nvSpPr>
        <p:spPr>
          <a:xfrm>
            <a:off x="6858000" y="3429000"/>
            <a:ext cx="1587500" cy="2667000"/>
          </a:xfrm>
          <a:prstGeom prst="roundRect">
            <a:avLst>
              <a:gd name="adj" fmla="val 3000"/>
            </a:avLst>
          </a:prstGeom>
          <a:solidFill>
            <a:srgbClr val="BFD0D6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9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33500"/>
            <a:ext cx="1397000" cy="1397000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4318000"/>
            <a:ext cx="825500" cy="825500"/>
          </a:xfrm>
          <a:prstGeom prst="rect">
            <a:avLst/>
          </a:prstGeom>
        </p:spPr>
      </p:pic>
      <p:pic>
        <p:nvPicPr>
          <p:cNvPr id="11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4318000"/>
            <a:ext cx="762000" cy="762000"/>
          </a:xfrm>
          <a:prstGeom prst="rect">
            <a:avLst/>
          </a:prstGeom>
        </p:spPr>
      </p:pic>
      <p:sp>
        <p:nvSpPr>
          <p:cNvPr id="13" name="Text Box 5"/>
          <p:cNvSpPr txBox="1"/>
          <p:nvPr/>
        </p:nvSpPr>
        <p:spPr>
          <a:xfrm>
            <a:off x="5270500" y="863600"/>
            <a:ext cx="1524000" cy="228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700" b="1" i="0" u="none">
                <a:solidFill>
                  <a:srgbClr val="8B7355"/>
                </a:solidFill>
                <a:latin typeface="+mn-lt"/>
              </a:rPr>
              <a:t>CRIME + SAFETY</a:t>
            </a:r>
          </a:p>
        </p:txBody>
      </p:sp>
      <p:sp>
        <p:nvSpPr>
          <p:cNvPr id="14" name="Text Box 6"/>
          <p:cNvSpPr txBox="1"/>
          <p:nvPr/>
        </p:nvSpPr>
        <p:spPr>
          <a:xfrm>
            <a:off x="5270500" y="3556000"/>
            <a:ext cx="1016000" cy="228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700" b="1" i="0" u="none">
                <a:solidFill>
                  <a:srgbClr val="7A6A55"/>
                </a:solidFill>
                <a:latin typeface="+mn-lt"/>
              </a:rPr>
              <a:t>TRENDS</a:t>
            </a:r>
          </a:p>
        </p:txBody>
      </p:sp>
      <p:sp>
        <p:nvSpPr>
          <p:cNvPr id="15" name="Text Box 7"/>
          <p:cNvSpPr txBox="1"/>
          <p:nvPr/>
        </p:nvSpPr>
        <p:spPr>
          <a:xfrm>
            <a:off x="6985000" y="3556000"/>
            <a:ext cx="1270000" cy="228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700" b="1" i="0" u="none">
                <a:solidFill>
                  <a:srgbClr val="5A7A8A"/>
                </a:solidFill>
                <a:latin typeface="+mn-lt"/>
              </a:rPr>
              <a:t>GEOGRAPHY</a:t>
            </a:r>
          </a:p>
        </p:txBody>
      </p:sp>
      <p:sp>
        <p:nvSpPr>
          <p:cNvPr id="16" name="Text Box 4"/>
          <p:cNvSpPr txBox="1"/>
          <p:nvPr/>
        </p:nvSpPr>
        <p:spPr>
          <a:xfrm>
            <a:off x="635000" y="1587500"/>
            <a:ext cx="2540000" cy="228600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rPr lang="en-US" sz="800" b="0" i="0" u="none">
                <a:solidFill>
                  <a:srgbClr val="E8DED4"/>
                </a:solidFill>
                <a:latin typeface="+mn-lt"/>
              </a:rPr>
              <a:t>A DATA-DRIVEN ANALYSIS</a:t>
            </a:r>
          </a:p>
        </p:txBody>
      </p:sp>
      <p:sp>
        <p:nvSpPr>
          <p:cNvPr id="17" name="Text Box 8"/>
          <p:cNvSpPr txBox="1"/>
          <p:nvPr/>
        </p:nvSpPr>
        <p:spPr>
          <a:xfrm>
            <a:off x="5270500" y="2794000"/>
            <a:ext cx="1524000" cy="254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800" b="0" i="0" u="none">
                <a:solidFill>
                  <a:srgbClr val="8B7355"/>
                </a:solidFill>
                <a:latin typeface="+mn-lt"/>
              </a:rPr>
              <a:t>27 EU NATIONS</a:t>
            </a:r>
          </a:p>
        </p:txBody>
      </p:sp>
      <p:sp>
        <p:nvSpPr>
          <p:cNvPr id="18" name="Text Box 9"/>
          <p:cNvSpPr txBox="1"/>
          <p:nvPr/>
        </p:nvSpPr>
        <p:spPr>
          <a:xfrm>
            <a:off x="5270500" y="5207000"/>
            <a:ext cx="1016000" cy="228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800" b="0" i="0" u="none">
                <a:solidFill>
                  <a:srgbClr val="7A6A55"/>
                </a:solidFill>
                <a:latin typeface="+mn-lt"/>
              </a:rPr>
              <a:t>10 YEARS</a:t>
            </a:r>
          </a:p>
        </p:txBody>
      </p:sp>
      <p:sp>
        <p:nvSpPr>
          <p:cNvPr id="19" name="Text Box 10"/>
          <p:cNvSpPr txBox="1"/>
          <p:nvPr/>
        </p:nvSpPr>
        <p:spPr>
          <a:xfrm>
            <a:off x="6985000" y="5207000"/>
            <a:ext cx="1270000" cy="228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800" b="0" i="0" u="none">
                <a:solidFill>
                  <a:srgbClr val="5A7A8A"/>
                </a:solidFill>
                <a:latin typeface="+mn-lt"/>
              </a:rPr>
              <a:t>CROSS-BORDER</a:t>
            </a:r>
          </a:p>
        </p:txBody>
      </p:sp>
      <p:sp>
        <p:nvSpPr>
          <p:cNvPr id="20" name="Text Box 11"/>
          <p:cNvSpPr txBox="1"/>
          <p:nvPr/>
        </p:nvSpPr>
        <p:spPr>
          <a:xfrm>
            <a:off x="635000" y="4572000"/>
            <a:ext cx="3937000" cy="1270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000" b="1" i="0" u="none">
                <a:solidFill>
                  <a:srgbClr val="E8DED4"/>
                </a:solidFill>
                <a:latin typeface="+mn-lt"/>
              </a:rPr>
              <a:t>PRESENTED BY</a:t>
            </a:r>
          </a:p>
          <a:p>
            <a:pPr>
              <a:buNone/>
            </a:pPr>
            <a:endParaRPr lang="en-US" sz="1000" b="1" i="0" u="none">
              <a:solidFill>
                <a:srgbClr val="44546A"/>
              </a:solidFill>
              <a:latin typeface="+mn-lt"/>
            </a:endParaRPr>
          </a:p>
          <a:p>
            <a:pPr>
              <a:buNone/>
            </a:pPr>
            <a:r>
              <a:rPr lang="en-US" sz="1000" b="0" i="0" u="none">
                <a:solidFill>
                  <a:srgbClr val="FFFFFF"/>
                </a:solidFill>
                <a:latin typeface="+mn-lt"/>
              </a:rPr>
              <a:t>Victoria Antai Bassey</a:t>
            </a:r>
          </a:p>
          <a:p>
            <a:pPr>
              <a:buNone/>
            </a:pPr>
            <a:r>
              <a:rPr lang="en-US" sz="1000" b="0" i="0" u="none">
                <a:solidFill>
                  <a:srgbClr val="FFFFFF"/>
                </a:solidFill>
                <a:latin typeface="+mn-lt"/>
              </a:rPr>
              <a:t>Student Number: 948253</a:t>
            </a:r>
          </a:p>
          <a:p>
            <a:pPr>
              <a:buNone/>
            </a:pPr>
            <a:r>
              <a:rPr lang="en-US" sz="1000" b="0" i="0" u="none">
                <a:solidFill>
                  <a:srgbClr val="FFFFFF"/>
                </a:solidFill>
                <a:latin typeface="+mn-lt"/>
              </a:rPr>
              <a:t>v.bassey@campus.unimib.it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08000"/>
            <a:ext cx="7874000" cy="635000"/>
          </a:xfrm>
          <a:noFill/>
        </p:spPr>
        <p:txBody>
          <a:bodyPr anchor="ctr">
            <a:normAutofit/>
          </a:bodyPr>
          <a:lstStyle/>
          <a:p>
            <a:pPr algn="l"/>
            <a:r>
              <a:rPr sz="3600" b="1" dirty="0">
                <a:solidFill>
                  <a:srgbClr val="1B2838"/>
                </a:solidFill>
                <a:latin typeface="+mj-lt"/>
              </a:rPr>
              <a:t>The Questions That Matter</a:t>
            </a:r>
          </a:p>
        </p:txBody>
      </p:sp>
      <p:sp>
        <p:nvSpPr>
          <p:cNvPr id="3" name="Text Box 1"/>
          <p:cNvSpPr txBox="1"/>
          <p:nvPr/>
        </p:nvSpPr>
        <p:spPr>
          <a:xfrm>
            <a:off x="635000" y="1524000"/>
            <a:ext cx="508000" cy="6985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</a:pPr>
            <a:r>
              <a:rPr lang="en-US" sz="2000" b="0" i="0" u="none">
                <a:solidFill>
                  <a:srgbClr val="4472C4"/>
                </a:solidFill>
                <a:latin typeface="Calibri"/>
              </a:rPr>
              <a:t>01</a:t>
            </a:r>
          </a:p>
        </p:txBody>
      </p:sp>
      <p:sp>
        <p:nvSpPr>
          <p:cNvPr id="4" name="Text Box 2"/>
          <p:cNvSpPr txBox="1"/>
          <p:nvPr/>
        </p:nvSpPr>
        <p:spPr>
          <a:xfrm>
            <a:off x="1206500" y="1524000"/>
            <a:ext cx="7366000" cy="698500"/>
          </a:xfrm>
          <a:prstGeom prst="roundRect">
            <a:avLst>
              <a:gd name="adj" fmla="val 7500"/>
            </a:avLst>
          </a:prstGeom>
          <a:solidFill>
            <a:srgbClr val="FFFFFF"/>
          </a:solidFill>
        </p:spPr>
        <p:txBody>
          <a:bodyPr lIns="190500" tIns="127000" rIns="0" bIns="127000" anchor="ctr"/>
          <a:lstStyle/>
          <a:p>
            <a:pPr>
              <a:buNone/>
            </a:pPr>
            <a:r>
              <a:rPr lang="en-US" sz="1600" b="0" i="0" u="none">
                <a:solidFill>
                  <a:srgbClr val="2D3748"/>
                </a:solidFill>
                <a:latin typeface="+mn-lt"/>
              </a:rPr>
              <a:t>Do crime rankings actually reflect real risk — or just population size?</a:t>
            </a:r>
          </a:p>
        </p:txBody>
      </p:sp>
      <p:sp>
        <p:nvSpPr>
          <p:cNvPr id="5" name="Text Box 3"/>
          <p:cNvSpPr txBox="1"/>
          <p:nvPr/>
        </p:nvSpPr>
        <p:spPr>
          <a:xfrm>
            <a:off x="635000" y="2476500"/>
            <a:ext cx="508000" cy="6985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</a:pPr>
            <a:r>
              <a:rPr lang="en-US" sz="2000" b="0" i="0" u="none">
                <a:solidFill>
                  <a:srgbClr val="4472C4"/>
                </a:solidFill>
                <a:latin typeface="Calibri"/>
              </a:rPr>
              <a:t>02</a:t>
            </a:r>
          </a:p>
        </p:txBody>
      </p:sp>
      <p:sp>
        <p:nvSpPr>
          <p:cNvPr id="6" name="Text Box 4"/>
          <p:cNvSpPr txBox="1"/>
          <p:nvPr/>
        </p:nvSpPr>
        <p:spPr>
          <a:xfrm>
            <a:off x="1206500" y="2476500"/>
            <a:ext cx="7366000" cy="698500"/>
          </a:xfrm>
          <a:prstGeom prst="roundRect">
            <a:avLst>
              <a:gd name="adj" fmla="val 7500"/>
            </a:avLst>
          </a:prstGeom>
          <a:solidFill>
            <a:srgbClr val="FFFFFF"/>
          </a:solidFill>
        </p:spPr>
        <p:txBody>
          <a:bodyPr lIns="190500" tIns="127000" rIns="0" bIns="127000" anchor="ctr"/>
          <a:lstStyle/>
          <a:p>
            <a:pPr>
              <a:buNone/>
            </a:pPr>
            <a:r>
              <a:rPr lang="en-US" sz="1600" b="0" i="0" u="none">
                <a:solidFill>
                  <a:srgbClr val="2D3748"/>
                </a:solidFill>
                <a:latin typeface="+mn-lt"/>
              </a:rPr>
              <a:t>What happens when we look at trends over time instead of snapshots?</a:t>
            </a:r>
          </a:p>
        </p:txBody>
      </p:sp>
      <p:sp>
        <p:nvSpPr>
          <p:cNvPr id="7" name="Text Box 5"/>
          <p:cNvSpPr txBox="1"/>
          <p:nvPr/>
        </p:nvSpPr>
        <p:spPr>
          <a:xfrm>
            <a:off x="635000" y="3429000"/>
            <a:ext cx="508000" cy="6985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</a:pPr>
            <a:r>
              <a:rPr lang="en-US" sz="2000" b="0" i="0" u="none">
                <a:solidFill>
                  <a:srgbClr val="4472C4"/>
                </a:solidFill>
                <a:latin typeface="Calibri"/>
              </a:rPr>
              <a:t>03</a:t>
            </a:r>
          </a:p>
        </p:txBody>
      </p:sp>
      <p:sp>
        <p:nvSpPr>
          <p:cNvPr id="8" name="Text Box 6"/>
          <p:cNvSpPr txBox="1"/>
          <p:nvPr/>
        </p:nvSpPr>
        <p:spPr>
          <a:xfrm>
            <a:off x="1206500" y="3429000"/>
            <a:ext cx="7366000" cy="698500"/>
          </a:xfrm>
          <a:prstGeom prst="roundRect">
            <a:avLst>
              <a:gd name="adj" fmla="val 7500"/>
            </a:avLst>
          </a:prstGeom>
          <a:solidFill>
            <a:srgbClr val="FFFFFF"/>
          </a:solidFill>
        </p:spPr>
        <p:txBody>
          <a:bodyPr lIns="190500" tIns="127000" rIns="0" bIns="127000" anchor="ctr"/>
          <a:lstStyle/>
          <a:p>
            <a:pPr>
              <a:buNone/>
            </a:pPr>
            <a:r>
              <a:rPr lang="en-US" sz="1600" b="0" i="0" u="none">
                <a:solidFill>
                  <a:srgbClr val="2D3748"/>
                </a:solidFill>
                <a:latin typeface="+mn-lt"/>
              </a:rPr>
              <a:t>Can profiling countries reveal more than simply ranking them?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35000" y="508000"/>
            <a:ext cx="7874000" cy="635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3600" b="0" i="0" u="none">
                <a:solidFill>
                  <a:srgbClr val="1B2838"/>
                </a:solidFill>
                <a:latin typeface="+mj-lt"/>
              </a:rPr>
              <a:t>About the Data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35000" y="1143000"/>
            <a:ext cx="2540000" cy="254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 dirty="0">
                <a:solidFill>
                  <a:srgbClr val="C4B5A3"/>
                </a:solidFill>
                <a:latin typeface="+mn-lt"/>
              </a:rPr>
              <a:t>DATA FOUNDATION</a:t>
            </a:r>
          </a:p>
        </p:txBody>
      </p:sp>
      <p:sp>
        <p:nvSpPr>
          <p:cNvPr id="4" name="roundrectangle 1"/>
          <p:cNvSpPr/>
          <p:nvPr/>
        </p:nvSpPr>
        <p:spPr>
          <a:xfrm>
            <a:off x="635000" y="1587500"/>
            <a:ext cx="3873500" cy="2222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oundrectangle 2"/>
          <p:cNvSpPr/>
          <p:nvPr/>
        </p:nvSpPr>
        <p:spPr>
          <a:xfrm>
            <a:off x="4699000" y="1587500"/>
            <a:ext cx="3873500" cy="2222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oundrectangle 3"/>
          <p:cNvSpPr/>
          <p:nvPr/>
        </p:nvSpPr>
        <p:spPr>
          <a:xfrm>
            <a:off x="635000" y="4000500"/>
            <a:ext cx="3873500" cy="2222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circle 1"/>
          <p:cNvSpPr/>
          <p:nvPr/>
        </p:nvSpPr>
        <p:spPr>
          <a:xfrm>
            <a:off x="825500" y="1778000"/>
            <a:ext cx="508000" cy="508000"/>
          </a:xfrm>
          <a:prstGeom prst="ellipse">
            <a:avLst/>
          </a:prstGeom>
          <a:solidFill>
            <a:srgbClr val="E8DE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circle 2"/>
          <p:cNvSpPr/>
          <p:nvPr/>
        </p:nvSpPr>
        <p:spPr>
          <a:xfrm>
            <a:off x="4889500" y="1778000"/>
            <a:ext cx="508000" cy="508000"/>
          </a:xfrm>
          <a:prstGeom prst="ellipse">
            <a:avLst/>
          </a:prstGeom>
          <a:solidFill>
            <a:srgbClr val="D4C5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circle 3"/>
          <p:cNvSpPr/>
          <p:nvPr/>
        </p:nvSpPr>
        <p:spPr>
          <a:xfrm>
            <a:off x="825500" y="4191000"/>
            <a:ext cx="508000" cy="508000"/>
          </a:xfrm>
          <a:prstGeom prst="ellipse">
            <a:avLst/>
          </a:prstGeom>
          <a:solidFill>
            <a:srgbClr val="BFD0D6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0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0" y="1879600"/>
            <a:ext cx="304800" cy="304800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1879600"/>
            <a:ext cx="304800" cy="304800"/>
          </a:xfrm>
          <a:prstGeom prst="rect">
            <a:avLst/>
          </a:prstGeom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4292600"/>
            <a:ext cx="304800" cy="304800"/>
          </a:xfrm>
          <a:prstGeom prst="rect">
            <a:avLst/>
          </a:prstGeom>
        </p:spPr>
      </p:pic>
      <p:sp>
        <p:nvSpPr>
          <p:cNvPr id="13" name="Text Box 3"/>
          <p:cNvSpPr txBox="1"/>
          <p:nvPr/>
        </p:nvSpPr>
        <p:spPr>
          <a:xfrm>
            <a:off x="1460500" y="1866900"/>
            <a:ext cx="2857500" cy="330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1B2838"/>
                </a:solidFill>
                <a:latin typeface="+mn-lt"/>
              </a:rPr>
              <a:t>DATA SOURCE</a:t>
            </a:r>
          </a:p>
        </p:txBody>
      </p:sp>
      <p:sp>
        <p:nvSpPr>
          <p:cNvPr id="14" name="Text Box 4"/>
          <p:cNvSpPr txBox="1"/>
          <p:nvPr/>
        </p:nvSpPr>
        <p:spPr>
          <a:xfrm>
            <a:off x="5524500" y="1866900"/>
            <a:ext cx="2857500" cy="330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1B2838"/>
                </a:solidFill>
                <a:latin typeface="+mn-lt"/>
              </a:rPr>
              <a:t>COVERAGE</a:t>
            </a:r>
          </a:p>
        </p:txBody>
      </p:sp>
      <p:sp>
        <p:nvSpPr>
          <p:cNvPr id="15" name="Text Box 5"/>
          <p:cNvSpPr txBox="1"/>
          <p:nvPr/>
        </p:nvSpPr>
        <p:spPr>
          <a:xfrm>
            <a:off x="1460500" y="4279900"/>
            <a:ext cx="3175000" cy="330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1B2838"/>
                </a:solidFill>
                <a:latin typeface="+mn-lt"/>
              </a:rPr>
              <a:t>DATA PREPARATION</a:t>
            </a:r>
          </a:p>
        </p:txBody>
      </p:sp>
      <p:sp>
        <p:nvSpPr>
          <p:cNvPr id="16" name="Text Box 6"/>
          <p:cNvSpPr txBox="1"/>
          <p:nvPr/>
        </p:nvSpPr>
        <p:spPr>
          <a:xfrm>
            <a:off x="762000" y="2349500"/>
            <a:ext cx="3556000" cy="1333500"/>
          </a:xfrm>
          <a:prstGeom prst="rect">
            <a:avLst/>
          </a:prstGeom>
        </p:spPr>
        <p:txBody>
          <a:bodyPr lIns="127000" tIns="63500" rIns="127000" bIns="0"/>
          <a:lstStyle/>
          <a:p>
            <a:pPr>
              <a:buNone/>
            </a:pPr>
            <a:r>
              <a:rPr lang="en-US" sz="1100" b="0" i="0" u="none">
                <a:solidFill>
                  <a:srgbClr val="2D3748"/>
                </a:solidFill>
                <a:latin typeface="+mn-lt"/>
              </a:rPr>
              <a:t>Data sourced from Eurostat — the official EU statistics database</a:t>
            </a:r>
          </a:p>
        </p:txBody>
      </p:sp>
      <p:sp>
        <p:nvSpPr>
          <p:cNvPr id="17" name="Text Box 7"/>
          <p:cNvSpPr txBox="1"/>
          <p:nvPr/>
        </p:nvSpPr>
        <p:spPr>
          <a:xfrm>
            <a:off x="4826000" y="2349500"/>
            <a:ext cx="3556000" cy="1333500"/>
          </a:xfrm>
          <a:prstGeom prst="rect">
            <a:avLst/>
          </a:prstGeom>
        </p:spPr>
        <p:txBody>
          <a:bodyPr lIns="127000" tIns="63500" rIns="127000" bIns="0"/>
          <a:lstStyle/>
          <a:p>
            <a:pPr marL="228600" indent="-228600">
              <a:buChar char="•"/>
            </a:pPr>
            <a:r>
              <a:rPr lang="en-US" sz="1100" b="0" i="0" u="none">
                <a:solidFill>
                  <a:srgbClr val="2D3748"/>
                </a:solidFill>
                <a:latin typeface="+mn-lt"/>
              </a:rPr>
              <a:t>Covers crime counts across European countries</a:t>
            </a:r>
          </a:p>
          <a:p>
            <a:pPr marL="228600" indent="-228600">
              <a:buChar char="•"/>
            </a:pPr>
            <a:r>
              <a:rPr lang="en-US" sz="1100" b="0" i="0" u="none">
                <a:solidFill>
                  <a:srgbClr val="2D3748"/>
                </a:solidFill>
                <a:latin typeface="+mn-lt"/>
              </a:rPr>
              <a:t>Includes data from 2014 to 2023</a:t>
            </a:r>
          </a:p>
        </p:txBody>
      </p:sp>
      <p:sp>
        <p:nvSpPr>
          <p:cNvPr id="18" name="Text Box 8"/>
          <p:cNvSpPr txBox="1"/>
          <p:nvPr/>
        </p:nvSpPr>
        <p:spPr>
          <a:xfrm>
            <a:off x="762000" y="4762500"/>
            <a:ext cx="3556000" cy="1333500"/>
          </a:xfrm>
          <a:prstGeom prst="rect">
            <a:avLst/>
          </a:prstGeom>
        </p:spPr>
        <p:txBody>
          <a:bodyPr lIns="127000" tIns="63500" rIns="127000" bIns="0"/>
          <a:lstStyle/>
          <a:p>
            <a:pPr marL="228600" indent="-228600">
              <a:buChar char="•"/>
            </a:pPr>
            <a:r>
              <a:rPr lang="en-US" sz="1100" b="0" i="0" u="none">
                <a:solidFill>
                  <a:srgbClr val="2D3748"/>
                </a:solidFill>
                <a:latin typeface="+mn-lt"/>
              </a:rPr>
              <a:t>Combined with population data for fair comparison</a:t>
            </a:r>
          </a:p>
          <a:p>
            <a:pPr marL="228600" indent="-228600">
              <a:buChar char="•"/>
            </a:pPr>
            <a:r>
              <a:rPr lang="en-US" sz="1100" b="0" i="0" u="none">
                <a:solidFill>
                  <a:srgbClr val="2D3748"/>
                </a:solidFill>
                <a:latin typeface="+mn-lt"/>
              </a:rPr>
              <a:t>Based on police-recorded offences</a:t>
            </a:r>
          </a:p>
        </p:txBody>
      </p:sp>
      <p:sp>
        <p:nvSpPr>
          <p:cNvPr id="19" name="roundrectangle 4"/>
          <p:cNvSpPr/>
          <p:nvPr/>
        </p:nvSpPr>
        <p:spPr>
          <a:xfrm>
            <a:off x="4699000" y="4000500"/>
            <a:ext cx="3873500" cy="2222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ellipse 1"/>
          <p:cNvSpPr/>
          <p:nvPr/>
        </p:nvSpPr>
        <p:spPr>
          <a:xfrm>
            <a:off x="4889500" y="4191000"/>
            <a:ext cx="508000" cy="508000"/>
          </a:xfrm>
          <a:prstGeom prst="ellipse">
            <a:avLst/>
          </a:prstGeom>
          <a:solidFill>
            <a:srgbClr val="E8DE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 Box 9"/>
          <p:cNvSpPr txBox="1"/>
          <p:nvPr/>
        </p:nvSpPr>
        <p:spPr>
          <a:xfrm>
            <a:off x="5524500" y="4279900"/>
            <a:ext cx="2857500" cy="330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1B2838"/>
                </a:solidFill>
                <a:latin typeface="+mn-lt"/>
              </a:rPr>
              <a:t>KEY INSIGHT</a:t>
            </a:r>
          </a:p>
        </p:txBody>
      </p:sp>
      <p:sp>
        <p:nvSpPr>
          <p:cNvPr id="22" name="Text Box 10"/>
          <p:cNvSpPr txBox="1"/>
          <p:nvPr/>
        </p:nvSpPr>
        <p:spPr>
          <a:xfrm>
            <a:off x="4826000" y="4762500"/>
            <a:ext cx="3556000" cy="1333500"/>
          </a:xfrm>
          <a:prstGeom prst="rect">
            <a:avLst/>
          </a:prstGeom>
        </p:spPr>
        <p:txBody>
          <a:bodyPr lIns="127000" tIns="63500" rIns="127000" bIns="0"/>
          <a:lstStyle/>
          <a:p>
            <a:pPr marL="228600" indent="-228600">
              <a:buNone/>
            </a:pPr>
            <a:r>
              <a:rPr lang="en-US" sz="1100" b="0" i="1" u="none">
                <a:solidFill>
                  <a:srgbClr val="2D3748"/>
                </a:solidFill>
                <a:latin typeface="+mn-lt"/>
              </a:rPr>
              <a:t>Raw crime counts alone can be misleading without population context.</a:t>
            </a:r>
          </a:p>
        </p:txBody>
      </p:sp>
      <p:pic>
        <p:nvPicPr>
          <p:cNvPr id="23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100" y="42926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35000" y="508000"/>
            <a:ext cx="7874000" cy="635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3600" b="0" i="0" u="none">
                <a:solidFill>
                  <a:srgbClr val="1B2838"/>
                </a:solidFill>
                <a:latin typeface="+mj-lt"/>
              </a:rPr>
              <a:t>The Game Plan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35000" y="1143000"/>
            <a:ext cx="2540000" cy="254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 dirty="0">
                <a:solidFill>
                  <a:srgbClr val="C4B5A3"/>
                </a:solidFill>
                <a:latin typeface="+mn-lt"/>
              </a:rPr>
              <a:t>METHODOLOGY</a:t>
            </a:r>
          </a:p>
        </p:txBody>
      </p:sp>
      <p:sp>
        <p:nvSpPr>
          <p:cNvPr id="5" name="roundrectangle 2"/>
          <p:cNvSpPr/>
          <p:nvPr/>
        </p:nvSpPr>
        <p:spPr>
          <a:xfrm>
            <a:off x="635000" y="1587500"/>
            <a:ext cx="3937000" cy="241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oundrectangle 3"/>
          <p:cNvSpPr/>
          <p:nvPr/>
        </p:nvSpPr>
        <p:spPr>
          <a:xfrm>
            <a:off x="4762500" y="1587500"/>
            <a:ext cx="3937000" cy="241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oundrectangle 4"/>
          <p:cNvSpPr/>
          <p:nvPr/>
        </p:nvSpPr>
        <p:spPr>
          <a:xfrm>
            <a:off x="635000" y="4191000"/>
            <a:ext cx="8064500" cy="241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circle 2"/>
          <p:cNvSpPr/>
          <p:nvPr/>
        </p:nvSpPr>
        <p:spPr>
          <a:xfrm>
            <a:off x="825500" y="1778000"/>
            <a:ext cx="508000" cy="508000"/>
          </a:xfrm>
          <a:prstGeom prst="ellipse">
            <a:avLst/>
          </a:prstGeom>
          <a:solidFill>
            <a:srgbClr val="D4C5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ircle 3"/>
          <p:cNvSpPr/>
          <p:nvPr/>
        </p:nvSpPr>
        <p:spPr>
          <a:xfrm>
            <a:off x="4953000" y="1778000"/>
            <a:ext cx="508000" cy="508000"/>
          </a:xfrm>
          <a:prstGeom prst="ellipse">
            <a:avLst/>
          </a:prstGeom>
          <a:solidFill>
            <a:srgbClr val="BFD0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circle 4"/>
          <p:cNvSpPr/>
          <p:nvPr/>
        </p:nvSpPr>
        <p:spPr>
          <a:xfrm>
            <a:off x="825500" y="4381500"/>
            <a:ext cx="508000" cy="508000"/>
          </a:xfrm>
          <a:prstGeom prst="ellipse">
            <a:avLst/>
          </a:prstGeom>
          <a:solidFill>
            <a:srgbClr val="C4B5A3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4483100"/>
            <a:ext cx="304800" cy="3048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879600"/>
            <a:ext cx="304800" cy="304800"/>
          </a:xfrm>
          <a:prstGeom prst="rect">
            <a:avLst/>
          </a:prstGeom>
        </p:spPr>
      </p:pic>
      <p:pic>
        <p:nvPicPr>
          <p:cNvPr id="1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1879600"/>
            <a:ext cx="304800" cy="304800"/>
          </a:xfrm>
          <a:prstGeom prst="rect">
            <a:avLst/>
          </a:prstGeom>
        </p:spPr>
      </p:pic>
      <p:sp>
        <p:nvSpPr>
          <p:cNvPr id="17" name="Text Box 4"/>
          <p:cNvSpPr txBox="1"/>
          <p:nvPr/>
        </p:nvSpPr>
        <p:spPr>
          <a:xfrm>
            <a:off x="1460500" y="1866900"/>
            <a:ext cx="2921000" cy="330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1B2838"/>
                </a:solidFill>
                <a:latin typeface="+mn-lt"/>
              </a:rPr>
              <a:t>DATA PREPARATION</a:t>
            </a:r>
          </a:p>
        </p:txBody>
      </p:sp>
      <p:sp>
        <p:nvSpPr>
          <p:cNvPr id="18" name="Text Box 5"/>
          <p:cNvSpPr txBox="1"/>
          <p:nvPr/>
        </p:nvSpPr>
        <p:spPr>
          <a:xfrm>
            <a:off x="5588000" y="1866900"/>
            <a:ext cx="2921000" cy="330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1B2838"/>
                </a:solidFill>
                <a:latin typeface="+mn-lt"/>
              </a:rPr>
              <a:t>ANALYTICAL APPROACH</a:t>
            </a:r>
          </a:p>
        </p:txBody>
      </p:sp>
      <p:sp>
        <p:nvSpPr>
          <p:cNvPr id="19" name="Text Box 6"/>
          <p:cNvSpPr txBox="1"/>
          <p:nvPr/>
        </p:nvSpPr>
        <p:spPr>
          <a:xfrm>
            <a:off x="1460500" y="4470400"/>
            <a:ext cx="2921000" cy="330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1B2838"/>
                </a:solidFill>
                <a:latin typeface="+mn-lt"/>
              </a:rPr>
              <a:t>VISUALISATION</a:t>
            </a:r>
          </a:p>
        </p:txBody>
      </p:sp>
      <p:sp>
        <p:nvSpPr>
          <p:cNvPr id="21" name="Text Box 8"/>
          <p:cNvSpPr txBox="1"/>
          <p:nvPr/>
        </p:nvSpPr>
        <p:spPr>
          <a:xfrm>
            <a:off x="762000" y="2349500"/>
            <a:ext cx="3619500" cy="1460500"/>
          </a:xfrm>
          <a:prstGeom prst="rect">
            <a:avLst/>
          </a:prstGeom>
        </p:spPr>
        <p:txBody>
          <a:bodyPr lIns="127000" tIns="63500" rIns="127000" bIns="0"/>
          <a:lstStyle/>
          <a:p>
            <a:pPr marL="228600" indent="-228600">
              <a:buChar char="•"/>
            </a:pPr>
            <a:r>
              <a:rPr lang="en-US" sz="1100" b="0" i="0" u="none">
                <a:solidFill>
                  <a:srgbClr val="2D3748"/>
                </a:solidFill>
                <a:latin typeface="+mn-lt"/>
              </a:rPr>
              <a:t>Cleaned and structured data for consistency across countries</a:t>
            </a:r>
          </a:p>
          <a:p>
            <a:pPr marL="228600" indent="-228600">
              <a:buChar char="•"/>
            </a:pPr>
            <a:r>
              <a:rPr lang="en-US" sz="1100" b="0" i="0" u="none">
                <a:solidFill>
                  <a:srgbClr val="2D3748"/>
                </a:solidFill>
                <a:latin typeface="+mn-lt"/>
              </a:rPr>
              <a:t>Standardised crime metrics for comparison</a:t>
            </a:r>
          </a:p>
        </p:txBody>
      </p:sp>
      <p:sp>
        <p:nvSpPr>
          <p:cNvPr id="22" name="Text Box 9"/>
          <p:cNvSpPr txBox="1"/>
          <p:nvPr/>
        </p:nvSpPr>
        <p:spPr>
          <a:xfrm>
            <a:off x="4889500" y="2349500"/>
            <a:ext cx="3619500" cy="1460500"/>
          </a:xfrm>
          <a:prstGeom prst="rect">
            <a:avLst/>
          </a:prstGeom>
        </p:spPr>
        <p:txBody>
          <a:bodyPr lIns="127000" tIns="63500" rIns="127000" bIns="0"/>
          <a:lstStyle/>
          <a:p>
            <a:pPr marL="228600" indent="-228600">
              <a:buChar char="•"/>
            </a:pPr>
            <a:r>
              <a:rPr lang="en-US" sz="1100" b="0" i="0" u="none">
                <a:solidFill>
                  <a:srgbClr val="2D3748"/>
                </a:solidFill>
                <a:latin typeface="+mn-lt"/>
              </a:rPr>
              <a:t>Compared raw crime totals vs per capita rates</a:t>
            </a:r>
          </a:p>
          <a:p>
            <a:pPr marL="228600" indent="-228600">
              <a:buChar char="•"/>
            </a:pPr>
            <a:r>
              <a:rPr lang="en-US" sz="1100" b="0" i="0" u="none">
                <a:solidFill>
                  <a:srgbClr val="2D3748"/>
                </a:solidFill>
                <a:latin typeface="+mn-lt"/>
              </a:rPr>
              <a:t>Analysed trends over time (2014–2023)</a:t>
            </a:r>
          </a:p>
          <a:p>
            <a:pPr marL="228600" indent="-228600">
              <a:buChar char="•"/>
            </a:pPr>
            <a:r>
              <a:rPr lang="en-US" sz="1100" b="0" i="0" u="none">
                <a:solidFill>
                  <a:srgbClr val="2D3748"/>
                </a:solidFill>
                <a:latin typeface="+mn-lt"/>
              </a:rPr>
              <a:t>Grouped countries based on risk level and trend direction</a:t>
            </a:r>
          </a:p>
        </p:txBody>
      </p:sp>
      <p:sp>
        <p:nvSpPr>
          <p:cNvPr id="23" name="Text Box 10"/>
          <p:cNvSpPr txBox="1"/>
          <p:nvPr/>
        </p:nvSpPr>
        <p:spPr>
          <a:xfrm>
            <a:off x="762000" y="4953000"/>
            <a:ext cx="3619500" cy="1460500"/>
          </a:xfrm>
          <a:prstGeom prst="rect">
            <a:avLst/>
          </a:prstGeom>
        </p:spPr>
        <p:txBody>
          <a:bodyPr lIns="127000" tIns="63500" rIns="127000" bIns="0"/>
          <a:lstStyle/>
          <a:p>
            <a:pPr marL="228600" indent="-228600">
              <a:buChar char="•"/>
            </a:pPr>
            <a:r>
              <a:rPr lang="en-US" sz="1100" b="0" i="0" u="none" dirty="0">
                <a:solidFill>
                  <a:srgbClr val="2D3748"/>
                </a:solidFill>
                <a:latin typeface="+mn-lt"/>
              </a:rPr>
              <a:t>Analysis and visualizations created with Python, pandas, and Matplotlib</a:t>
            </a:r>
          </a:p>
          <a:p>
            <a:pPr marL="228600" indent="-228600">
              <a:buChar char="•"/>
            </a:pPr>
            <a:r>
              <a:rPr lang="en-US" sz="1100" b="0" i="0" u="none" dirty="0">
                <a:solidFill>
                  <a:srgbClr val="2D3748"/>
                </a:solidFill>
                <a:latin typeface="+mn-lt"/>
              </a:rPr>
              <a:t>Background visuals on slide 1 was created using </a:t>
            </a:r>
            <a:r>
              <a:rPr lang="en-US" sz="1100" dirty="0">
                <a:solidFill>
                  <a:srgbClr val="2D3748"/>
                </a:solidFill>
              </a:rPr>
              <a:t>CANVA</a:t>
            </a:r>
            <a:r>
              <a:rPr lang="en-US" sz="1100" b="0" i="0" u="none" dirty="0">
                <a:solidFill>
                  <a:srgbClr val="2D3748"/>
                </a:solidFill>
                <a:latin typeface="+mn-lt"/>
              </a:rPr>
              <a:t> AI</a:t>
            </a:r>
            <a:r>
              <a:rPr lang="en-US" sz="1100" dirty="0">
                <a:solidFill>
                  <a:srgbClr val="2D3748"/>
                </a:solidFill>
              </a:rPr>
              <a:t>.</a:t>
            </a:r>
            <a:endParaRPr lang="en-US" sz="1100" b="0" i="0" u="none" dirty="0">
              <a:solidFill>
                <a:srgbClr val="2D3748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317500"/>
            <a:ext cx="7874000" cy="635000"/>
          </a:xfrm>
        </p:spPr>
        <p:txBody>
          <a:bodyPr>
            <a:normAutofit/>
          </a:bodyPr>
          <a:lstStyle/>
          <a:p>
            <a:pPr algn="l"/>
            <a:r>
              <a:rPr sz="3600" b="1" dirty="0">
                <a:solidFill>
                  <a:srgbClr val="1B2838"/>
                </a:solidFill>
                <a:latin typeface="+mj-lt"/>
              </a:rPr>
              <a:t>The Ranking Illusion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079500"/>
            <a:ext cx="787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4A5568"/>
                </a:solidFill>
                <a:latin typeface="+mn-lt"/>
              </a:rPr>
              <a:t>France, Germany, and Italy dominate the raw numbers — but this reflects population size, not actual risk per person.</a:t>
            </a:r>
          </a:p>
        </p:txBody>
      </p:sp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1013487876"/>
              </p:ext>
            </p:extLst>
          </p:nvPr>
        </p:nvGraphicFramePr>
        <p:xfrm>
          <a:off x="457200" y="2133600"/>
          <a:ext cx="8509000" cy="469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Box 1"/>
          <p:cNvSpPr txBox="1"/>
          <p:nvPr/>
        </p:nvSpPr>
        <p:spPr>
          <a:xfrm>
            <a:off x="457200" y="1879600"/>
            <a:ext cx="6350000" cy="254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100" b="0" i="0" u="none" dirty="0">
                <a:solidFill>
                  <a:srgbClr val="3B3B3B"/>
                </a:solidFill>
                <a:latin typeface="Calibri"/>
              </a:rPr>
              <a:t>EU Countries Ranked by Raw Crime Value (2023)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1"/>
          <p:cNvGraphicFramePr/>
          <p:nvPr/>
        </p:nvGraphicFramePr>
        <p:xfrm>
          <a:off x="1841500" y="19050000"/>
          <a:ext cx="5461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2"/>
          <p:cNvGraphicFramePr/>
          <p:nvPr/>
        </p:nvGraphicFramePr>
        <p:xfrm>
          <a:off x="1841500" y="19050000"/>
          <a:ext cx="5461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966FBFC-BD86-4CAE-D789-A97EE5328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0"/>
            <a:ext cx="9144000" cy="4953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325677"/>
            <a:ext cx="7886700" cy="2141951"/>
          </a:xfrm>
        </p:spPr>
        <p:txBody>
          <a:bodyPr>
            <a:normAutofit/>
          </a:bodyPr>
          <a:lstStyle/>
          <a:p>
            <a:pPr algn="l"/>
            <a:r>
              <a:rPr sz="3600" b="1" dirty="0">
                <a:solidFill>
                  <a:srgbClr val="1B2838"/>
                </a:solidFill>
                <a:latin typeface="+mj-lt"/>
              </a:rPr>
              <a:t>The Population Effect</a:t>
            </a:r>
            <a:endParaRPr sz="48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5000" y="1016000"/>
            <a:ext cx="7874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i="0" u="none" dirty="0">
                <a:solidFill>
                  <a:srgbClr val="4A5568"/>
                </a:solidFill>
                <a:latin typeface="+mn-lt"/>
              </a:rPr>
              <a:t>Large countries appear most dangerous by raw count, but per capita data tells a completely different story. France, Germany, and Italy drop to the bottom when adjusted for population, while smaller nations like Luxembourg and Finland rise to the 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317500"/>
            <a:ext cx="7874000" cy="635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sz="3600" b="1" i="0" u="none" dirty="0">
                <a:solidFill>
                  <a:srgbClr val="1B2838"/>
                </a:solidFill>
                <a:latin typeface="+mj-lt"/>
              </a:rPr>
              <a:t>The Trend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016000"/>
            <a:ext cx="7874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4A5568"/>
                </a:solidFill>
                <a:latin typeface="+mn-lt"/>
              </a:rPr>
              <a:t>Crime isn't static. Over the past decade, countries like Romania and Czechia have seen dramatic decreases, while Luxembourg and Spain are trending sharply upward.</a:t>
            </a:r>
            <a:endParaRPr sz="20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44500" y="25400000"/>
          <a:ext cx="8255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2"/>
          <p:cNvGraphicFramePr/>
          <p:nvPr/>
        </p:nvGraphicFramePr>
        <p:xfrm>
          <a:off x="127000" y="1803400"/>
          <a:ext cx="8890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Box 1"/>
          <p:cNvSpPr txBox="1"/>
          <p:nvPr/>
        </p:nvSpPr>
        <p:spPr>
          <a:xfrm>
            <a:off x="635000" y="1498600"/>
            <a:ext cx="5080000" cy="3048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400" b="1" i="0" u="none">
                <a:solidFill>
                  <a:srgbClr val="3B3B3B"/>
                </a:solidFill>
                <a:latin typeface="Calibri"/>
              </a:rPr>
              <a:t>Crime Trend in EU Countries (2014–2023)</a:t>
            </a:r>
          </a:p>
        </p:txBody>
      </p:sp>
      <p:sp>
        <p:nvSpPr>
          <p:cNvPr id="11" name="Text Box 2"/>
          <p:cNvSpPr txBox="1"/>
          <p:nvPr/>
        </p:nvSpPr>
        <p:spPr>
          <a:xfrm>
            <a:off x="6350000" y="1498600"/>
            <a:ext cx="1143000" cy="254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000" b="0" i="0" u="none">
                <a:solidFill>
                  <a:srgbClr val="E8734A"/>
                </a:solidFill>
                <a:latin typeface="Calibri"/>
              </a:rPr>
              <a:t>■ Increasing</a:t>
            </a:r>
          </a:p>
        </p:txBody>
      </p:sp>
      <p:sp>
        <p:nvSpPr>
          <p:cNvPr id="12" name="Text Box 3"/>
          <p:cNvSpPr txBox="1"/>
          <p:nvPr/>
        </p:nvSpPr>
        <p:spPr>
          <a:xfrm>
            <a:off x="7620000" y="1498600"/>
            <a:ext cx="1270000" cy="254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000" b="0" i="0" u="none">
                <a:solidFill>
                  <a:srgbClr val="2D8B75"/>
                </a:solidFill>
                <a:latin typeface="Calibri"/>
              </a:rPr>
              <a:t>■ Decreasing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381000"/>
            <a:ext cx="7874000" cy="635000"/>
          </a:xfrm>
        </p:spPr>
        <p:txBody>
          <a:bodyPr>
            <a:normAutofit/>
          </a:bodyPr>
          <a:lstStyle/>
          <a:p>
            <a:pPr algn="l"/>
            <a:r>
              <a:rPr sz="3200" b="1" dirty="0">
                <a:solidFill>
                  <a:srgbClr val="1B2838"/>
                </a:solidFill>
                <a:latin typeface="+mj-lt"/>
              </a:rPr>
              <a:t>The Data Has Blind Spots</a:t>
            </a:r>
          </a:p>
        </p:txBody>
      </p:sp>
      <p:sp>
        <p:nvSpPr>
          <p:cNvPr id="3" name="roundrectangle 1"/>
          <p:cNvSpPr/>
          <p:nvPr/>
        </p:nvSpPr>
        <p:spPr>
          <a:xfrm>
            <a:off x="635000" y="1270000"/>
            <a:ext cx="2476500" cy="431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ctr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roundrectangle 2"/>
          <p:cNvSpPr/>
          <p:nvPr/>
        </p:nvSpPr>
        <p:spPr>
          <a:xfrm>
            <a:off x="3302000" y="1270000"/>
            <a:ext cx="2476500" cy="431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ctr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roundrectangle 3"/>
          <p:cNvSpPr/>
          <p:nvPr/>
        </p:nvSpPr>
        <p:spPr>
          <a:xfrm>
            <a:off x="5969000" y="1270000"/>
            <a:ext cx="2476500" cy="431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ctr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Box 1"/>
          <p:cNvSpPr txBox="1"/>
          <p:nvPr/>
        </p:nvSpPr>
        <p:spPr>
          <a:xfrm>
            <a:off x="825500" y="2222500"/>
            <a:ext cx="2095500" cy="3175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US" sz="1400" b="0" i="0" u="none">
                <a:solidFill>
                  <a:srgbClr val="1B2838"/>
                </a:solidFill>
                <a:latin typeface="+mj-lt"/>
              </a:rPr>
              <a:t>Hidden Crime</a:t>
            </a:r>
          </a:p>
        </p:txBody>
      </p:sp>
      <p:sp>
        <p:nvSpPr>
          <p:cNvPr id="7" name="Text Box 2"/>
          <p:cNvSpPr txBox="1"/>
          <p:nvPr/>
        </p:nvSpPr>
        <p:spPr>
          <a:xfrm>
            <a:off x="3492500" y="2222500"/>
            <a:ext cx="2095500" cy="3175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US" sz="1400" b="0" i="0" u="none">
                <a:solidFill>
                  <a:srgbClr val="1B2838"/>
                </a:solidFill>
                <a:latin typeface="+mj-lt"/>
              </a:rPr>
              <a:t>Reporting Gaps</a:t>
            </a:r>
          </a:p>
        </p:txBody>
      </p:sp>
      <p:sp>
        <p:nvSpPr>
          <p:cNvPr id="8" name="Text Box 3"/>
          <p:cNvSpPr txBox="1"/>
          <p:nvPr/>
        </p:nvSpPr>
        <p:spPr>
          <a:xfrm>
            <a:off x="6159500" y="2222500"/>
            <a:ext cx="2095500" cy="3175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US" sz="1400" b="0" i="0" u="none">
                <a:solidFill>
                  <a:srgbClr val="1B2838"/>
                </a:solidFill>
                <a:latin typeface="+mj-lt"/>
              </a:rPr>
              <a:t>Different Rules</a:t>
            </a:r>
          </a:p>
        </p:txBody>
      </p:sp>
      <p:sp>
        <p:nvSpPr>
          <p:cNvPr id="9" name="Text Box 4"/>
          <p:cNvSpPr txBox="1"/>
          <p:nvPr/>
        </p:nvSpPr>
        <p:spPr>
          <a:xfrm>
            <a:off x="825500" y="2641600"/>
            <a:ext cx="2095500" cy="25400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US" sz="1100" b="0" i="0" u="none">
                <a:solidFill>
                  <a:srgbClr val="4A5568"/>
                </a:solidFill>
                <a:latin typeface="+mn-lt"/>
              </a:rPr>
              <a:t>Official statistics only capture reported incidents. The true level of crime is likely higher, as many go unreported.</a:t>
            </a:r>
          </a:p>
        </p:txBody>
      </p:sp>
      <p:sp>
        <p:nvSpPr>
          <p:cNvPr id="10" name="Text Box 5"/>
          <p:cNvSpPr txBox="1"/>
          <p:nvPr/>
        </p:nvSpPr>
        <p:spPr>
          <a:xfrm>
            <a:off x="3492500" y="2641600"/>
            <a:ext cx="2095500" cy="25400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US" sz="1100" b="0" i="0" u="none">
                <a:solidFill>
                  <a:srgbClr val="4A5568"/>
                </a:solidFill>
                <a:latin typeface="+mn-lt"/>
              </a:rPr>
              <a:t>Trust in police, cultural norms, and awareness levels vary widely — meaning some countries report far more than others.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1524000"/>
            <a:ext cx="508000" cy="508000"/>
          </a:xfrm>
          <a:prstGeom prst="rect">
            <a:avLst/>
          </a:prstGeom>
        </p:spPr>
      </p:pic>
      <p:sp>
        <p:nvSpPr>
          <p:cNvPr id="12" name="Text Box 6"/>
          <p:cNvSpPr txBox="1"/>
          <p:nvPr/>
        </p:nvSpPr>
        <p:spPr>
          <a:xfrm>
            <a:off x="6159500" y="2641600"/>
            <a:ext cx="2095500" cy="25400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US" sz="1100" b="0" i="0" u="none">
                <a:solidFill>
                  <a:srgbClr val="4A5568"/>
                </a:solidFill>
                <a:latin typeface="+mn-lt"/>
              </a:rPr>
              <a:t>Legal definitions of crime differ across borders. The same act may be classified differently from country to country.</a:t>
            </a:r>
          </a:p>
        </p:txBody>
      </p:sp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1524000"/>
            <a:ext cx="508000" cy="508000"/>
          </a:xfrm>
          <a:prstGeom prst="rect">
            <a:avLst/>
          </a:prstGeom>
        </p:spPr>
      </p:pic>
      <p:pic>
        <p:nvPicPr>
          <p:cNvPr id="1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0" y="1524000"/>
            <a:ext cx="508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317500"/>
            <a:ext cx="7874000" cy="635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sz="3600" b="1" i="0" u="none" dirty="0">
                <a:solidFill>
                  <a:srgbClr val="1B2838"/>
                </a:solidFill>
                <a:latin typeface="+mj-lt"/>
              </a:rPr>
              <a:t>Beyond the Rankings</a:t>
            </a:r>
          </a:p>
        </p:txBody>
      </p:sp>
      <p:sp>
        <p:nvSpPr>
          <p:cNvPr id="3" name="Text Box 1"/>
          <p:cNvSpPr txBox="1"/>
          <p:nvPr/>
        </p:nvSpPr>
        <p:spPr>
          <a:xfrm>
            <a:off x="635000" y="914400"/>
            <a:ext cx="7874000" cy="3048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300" b="0" i="0" u="none">
                <a:solidFill>
                  <a:srgbClr val="4A5568"/>
                </a:solidFill>
                <a:latin typeface="+mn-lt"/>
              </a:rPr>
              <a:t>Where risk meets momentum — four profiles that tell a deeper story than any league table</a:t>
            </a:r>
          </a:p>
        </p:txBody>
      </p:sp>
      <p:graphicFrame>
        <p:nvGraphicFramePr>
          <p:cNvPr id="4" name="Chart 1"/>
          <p:cNvGraphicFramePr/>
          <p:nvPr/>
        </p:nvGraphicFramePr>
        <p:xfrm>
          <a:off x="635000" y="-12700000"/>
          <a:ext cx="7874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2"/>
          <p:cNvGraphicFramePr/>
          <p:nvPr>
            <p:extLst>
              <p:ext uri="{D42A27DB-BD31-4B8C-83A1-F6EECF244321}">
                <p14:modId xmlns:p14="http://schemas.microsoft.com/office/powerpoint/2010/main" val="685122348"/>
              </p:ext>
            </p:extLst>
          </p:nvPr>
        </p:nvGraphicFramePr>
        <p:xfrm>
          <a:off x="2622884" y="1549400"/>
          <a:ext cx="6521116" cy="492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Box 2"/>
          <p:cNvSpPr txBox="1"/>
          <p:nvPr/>
        </p:nvSpPr>
        <p:spPr>
          <a:xfrm>
            <a:off x="1143000" y="1270000"/>
            <a:ext cx="6858000" cy="2794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100" b="1" i="0" u="none">
                <a:solidFill>
                  <a:srgbClr val="3B3B3B"/>
                </a:solidFill>
                <a:latin typeface="Calibri"/>
              </a:rPr>
              <a:t>Crime Profiling of EU Countries: Risk per Person vs Trend</a:t>
            </a:r>
          </a:p>
        </p:txBody>
      </p:sp>
      <p:sp>
        <p:nvSpPr>
          <p:cNvPr id="7" name="Text Box 3"/>
          <p:cNvSpPr txBox="1"/>
          <p:nvPr/>
        </p:nvSpPr>
        <p:spPr>
          <a:xfrm>
            <a:off x="1143000" y="6223000"/>
            <a:ext cx="6858000" cy="254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800" b="0" i="0" u="none">
                <a:solidFill>
                  <a:srgbClr val="595959"/>
                </a:solidFill>
                <a:latin typeface="Calibri"/>
              </a:rPr>
              <a:t>● High Risk + Increasing    ● High Risk + Decreasing    ● Low Risk + Increasing    ● Low Risk + Decreasing</a:t>
            </a:r>
          </a:p>
        </p:txBody>
      </p:sp>
      <p:sp>
        <p:nvSpPr>
          <p:cNvPr id="9" name="Text Box 4"/>
          <p:cNvSpPr txBox="1"/>
          <p:nvPr/>
        </p:nvSpPr>
        <p:spPr>
          <a:xfrm>
            <a:off x="0" y="1549400"/>
            <a:ext cx="2730500" cy="4225758"/>
          </a:xfrm>
          <a:prstGeom prst="rect">
            <a:avLst/>
          </a:prstGeom>
          <a:solidFill>
            <a:srgbClr val="F5F0EB"/>
          </a:solidFill>
          <a:ln w="9525">
            <a:noFill/>
          </a:ln>
        </p:spPr>
        <p:txBody>
          <a:bodyPr lIns="127000" tIns="127000" rIns="127000" bIns="127000">
            <a:normAutofit/>
          </a:bodyPr>
          <a:lstStyle/>
          <a:p>
            <a:pPr>
              <a:buNone/>
            </a:pPr>
            <a:endParaRPr lang="en-US" sz="900" b="1" i="0" u="none" dirty="0">
              <a:solidFill>
                <a:srgbClr val="3B3B3B"/>
              </a:solidFill>
              <a:latin typeface="Calibri"/>
            </a:endParaRPr>
          </a:p>
          <a:p>
            <a:pPr marL="228600" indent="-228600">
              <a:buFontTx/>
              <a:buChar char="•"/>
            </a:pPr>
            <a:r>
              <a:rPr lang="en-US" sz="1100" dirty="0"/>
              <a:t>Instead of asking which country is worst, this approach asks a better question: “where is risk high”, and is it getting better or worse?’ That gives us a much clearer understanding of safety across countries.</a:t>
            </a:r>
          </a:p>
          <a:p>
            <a:pPr>
              <a:buNone/>
            </a:pPr>
            <a:endParaRPr lang="en-US" sz="900" b="0" i="0" u="none" dirty="0">
              <a:solidFill>
                <a:srgbClr val="3B3B3B"/>
              </a:solidFill>
              <a:latin typeface="Calibri"/>
            </a:endParaRPr>
          </a:p>
          <a:p>
            <a:pPr>
              <a:buNone/>
            </a:pPr>
            <a:r>
              <a:rPr lang="en-US" sz="1100" b="0" i="0" u="none" dirty="0">
                <a:solidFill>
                  <a:srgbClr val="3B3B3B"/>
                </a:solidFill>
                <a:latin typeface="Calibri"/>
              </a:rPr>
              <a:t>Countries are grouped into four profiles:</a:t>
            </a:r>
          </a:p>
          <a:p>
            <a:pPr>
              <a:buNone/>
            </a:pPr>
            <a:endParaRPr lang="en-US" sz="1100" b="0" i="0" u="none" dirty="0">
              <a:solidFill>
                <a:srgbClr val="3B3B3B"/>
              </a:solidFill>
              <a:latin typeface="Calibri"/>
            </a:endParaRPr>
          </a:p>
          <a:p>
            <a:pPr marL="228600" indent="-228600">
              <a:buChar char="•"/>
            </a:pPr>
            <a:r>
              <a:rPr lang="en-US" sz="1100" b="1" i="0" u="none" dirty="0">
                <a:solidFill>
                  <a:srgbClr val="3B3B3B"/>
                </a:solidFill>
                <a:latin typeface="Calibri"/>
              </a:rPr>
              <a:t>High Risk + Increasing</a:t>
            </a:r>
            <a:r>
              <a:rPr lang="en-US" sz="1100" b="0" i="0" u="none" dirty="0">
                <a:solidFill>
                  <a:srgbClr val="3B3B3B"/>
                </a:solidFill>
                <a:latin typeface="Calibri"/>
              </a:rPr>
              <a:t> — high crime rates that are still growing (e.g. Luxembourg, France)</a:t>
            </a:r>
          </a:p>
          <a:p>
            <a:pPr marL="228600" indent="-228600">
              <a:buChar char="•"/>
            </a:pPr>
            <a:r>
              <a:rPr lang="en-US" sz="1100" b="1" i="0" u="none" dirty="0">
                <a:solidFill>
                  <a:srgbClr val="3B3B3B"/>
                </a:solidFill>
                <a:latin typeface="Calibri"/>
              </a:rPr>
              <a:t>High Risk + Decreasing</a:t>
            </a:r>
            <a:r>
              <a:rPr lang="en-US" sz="1100" b="0" i="0" u="none" dirty="0">
                <a:solidFill>
                  <a:srgbClr val="3B3B3B"/>
                </a:solidFill>
                <a:latin typeface="Calibri"/>
              </a:rPr>
              <a:t> — high crime rates but trending downward (e.g. Germany, Denmark)</a:t>
            </a:r>
          </a:p>
          <a:p>
            <a:pPr marL="228600" indent="-228600">
              <a:buChar char="•"/>
            </a:pPr>
            <a:r>
              <a:rPr lang="en-US" sz="1100" b="1" i="0" u="none" dirty="0">
                <a:solidFill>
                  <a:srgbClr val="3B3B3B"/>
                </a:solidFill>
                <a:latin typeface="Calibri"/>
              </a:rPr>
              <a:t>Low Risk + Increasing</a:t>
            </a:r>
            <a:r>
              <a:rPr lang="en-US" sz="1100" b="0" i="0" u="none" dirty="0">
                <a:solidFill>
                  <a:srgbClr val="3B3B3B"/>
                </a:solidFill>
                <a:latin typeface="Calibri"/>
              </a:rPr>
              <a:t> — lower crime rates but on the rise (e.g. Italy, Croatia)</a:t>
            </a:r>
          </a:p>
          <a:p>
            <a:pPr marL="228600" indent="-228600">
              <a:buChar char="•"/>
            </a:pPr>
            <a:r>
              <a:rPr lang="en-US" sz="1100" b="1" i="0" u="none" dirty="0">
                <a:solidFill>
                  <a:srgbClr val="3B3B3B"/>
                </a:solidFill>
                <a:latin typeface="Calibri"/>
              </a:rPr>
              <a:t>Low Risk + Decreasing</a:t>
            </a:r>
            <a:r>
              <a:rPr lang="en-US" sz="1100" b="0" i="0" u="none" dirty="0">
                <a:solidFill>
                  <a:srgbClr val="3B3B3B"/>
                </a:solidFill>
                <a:latin typeface="Calibri"/>
              </a:rPr>
              <a:t> — lower crime rates and improving further (e.g. Poland, Romania)</a:t>
            </a:r>
          </a:p>
          <a:p>
            <a:pPr marL="228600" indent="-228600">
              <a:buChar char="•"/>
            </a:pPr>
            <a:endParaRPr lang="en-US" sz="1100" dirty="0">
              <a:solidFill>
                <a:srgbClr val="3B3B3B"/>
              </a:solidFill>
              <a:latin typeface="Calibri"/>
            </a:endParaRPr>
          </a:p>
          <a:p>
            <a:pPr marL="228600" indent="-228600">
              <a:buChar char="•"/>
            </a:pPr>
            <a:endParaRPr lang="en-US" sz="1100" b="0" i="0" u="none" dirty="0">
              <a:solidFill>
                <a:srgbClr val="3B3B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444500"/>
            <a:ext cx="7874000" cy="635000"/>
          </a:xfrm>
        </p:spPr>
        <p:txBody>
          <a:bodyPr>
            <a:normAutofit/>
          </a:bodyPr>
          <a:lstStyle/>
          <a:p>
            <a:pPr algn="l"/>
            <a:r>
              <a:rPr sz="3600" b="1" dirty="0">
                <a:solidFill>
                  <a:srgbClr val="1B2838"/>
                </a:solidFill>
                <a:latin typeface="+mj-lt"/>
              </a:rPr>
              <a:t>What the Data Really Shows</a:t>
            </a:r>
          </a:p>
        </p:txBody>
      </p:sp>
      <p:sp>
        <p:nvSpPr>
          <p:cNvPr id="3" name="Text Box 1"/>
          <p:cNvSpPr txBox="1"/>
          <p:nvPr/>
        </p:nvSpPr>
        <p:spPr>
          <a:xfrm>
            <a:off x="635000" y="1460500"/>
            <a:ext cx="698500" cy="889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800" b="0" i="0" u="none">
                <a:solidFill>
                  <a:srgbClr val="4472C4"/>
                </a:solidFill>
                <a:latin typeface="+mj-lt"/>
              </a:rPr>
              <a:t>01</a:t>
            </a:r>
          </a:p>
        </p:txBody>
      </p:sp>
      <p:sp>
        <p:nvSpPr>
          <p:cNvPr id="5" name="Text Box 3"/>
          <p:cNvSpPr txBox="1"/>
          <p:nvPr/>
        </p:nvSpPr>
        <p:spPr>
          <a:xfrm>
            <a:off x="635000" y="2730500"/>
            <a:ext cx="698500" cy="889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800" b="0" i="0" u="none">
                <a:solidFill>
                  <a:srgbClr val="4472C4"/>
                </a:solidFill>
                <a:latin typeface="+mj-lt"/>
              </a:rPr>
              <a:t>02</a:t>
            </a:r>
          </a:p>
        </p:txBody>
      </p:sp>
      <p:sp>
        <p:nvSpPr>
          <p:cNvPr id="7" name="Text Box 5"/>
          <p:cNvSpPr txBox="1"/>
          <p:nvPr/>
        </p:nvSpPr>
        <p:spPr>
          <a:xfrm>
            <a:off x="635000" y="4000500"/>
            <a:ext cx="698500" cy="889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800" b="0" i="0" u="none">
                <a:solidFill>
                  <a:srgbClr val="4472C4"/>
                </a:solidFill>
                <a:latin typeface="+mj-lt"/>
              </a:rPr>
              <a:t>03</a:t>
            </a:r>
          </a:p>
        </p:txBody>
      </p:sp>
      <p:sp>
        <p:nvSpPr>
          <p:cNvPr id="9" name="Text Box 7"/>
          <p:cNvSpPr txBox="1"/>
          <p:nvPr/>
        </p:nvSpPr>
        <p:spPr>
          <a:xfrm>
            <a:off x="635000" y="5270500"/>
            <a:ext cx="698500" cy="889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800" b="0" i="0" u="none">
                <a:solidFill>
                  <a:srgbClr val="4472C4"/>
                </a:solidFill>
                <a:latin typeface="+mj-lt"/>
              </a:rPr>
              <a:t>04</a:t>
            </a:r>
          </a:p>
        </p:txBody>
      </p:sp>
      <p:sp>
        <p:nvSpPr>
          <p:cNvPr id="10" name="Text Box 2"/>
          <p:cNvSpPr txBox="1"/>
          <p:nvPr/>
        </p:nvSpPr>
        <p:spPr>
          <a:xfrm>
            <a:off x="1397000" y="1397000"/>
            <a:ext cx="7112000" cy="381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800" b="0" i="0" u="none">
                <a:solidFill>
                  <a:srgbClr val="1B2838"/>
                </a:solidFill>
                <a:latin typeface="+mn-lt"/>
              </a:rPr>
              <a:t>Rankings Oversimplify</a:t>
            </a:r>
          </a:p>
        </p:txBody>
      </p:sp>
      <p:sp>
        <p:nvSpPr>
          <p:cNvPr id="11" name="Text Box 4"/>
          <p:cNvSpPr txBox="1"/>
          <p:nvPr/>
        </p:nvSpPr>
        <p:spPr>
          <a:xfrm>
            <a:off x="1397000" y="1803400"/>
            <a:ext cx="7112000" cy="355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 dirty="0">
                <a:solidFill>
                  <a:srgbClr val="4A5568"/>
                </a:solidFill>
                <a:latin typeface="+mn-lt"/>
              </a:rPr>
              <a:t>Raw crime counts favor larger nations and hide the real story.</a:t>
            </a:r>
          </a:p>
        </p:txBody>
      </p:sp>
      <p:sp>
        <p:nvSpPr>
          <p:cNvPr id="12" name="Text Box 6"/>
          <p:cNvSpPr txBox="1"/>
          <p:nvPr/>
        </p:nvSpPr>
        <p:spPr>
          <a:xfrm>
            <a:off x="1397000" y="2667000"/>
            <a:ext cx="7112000" cy="381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800" b="0" i="0" u="none">
                <a:solidFill>
                  <a:srgbClr val="1B2838"/>
                </a:solidFill>
                <a:latin typeface="+mn-lt"/>
              </a:rPr>
              <a:t>Population Reshapes the Picture</a:t>
            </a:r>
          </a:p>
        </p:txBody>
      </p:sp>
      <p:sp>
        <p:nvSpPr>
          <p:cNvPr id="13" name="Text Box 8"/>
          <p:cNvSpPr txBox="1"/>
          <p:nvPr/>
        </p:nvSpPr>
        <p:spPr>
          <a:xfrm>
            <a:off x="1397000" y="3073400"/>
            <a:ext cx="7112000" cy="355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4A5568"/>
                </a:solidFill>
                <a:latin typeface="+mn-lt"/>
              </a:rPr>
              <a:t>Per capita data reveals that smaller countries often carry higher individual risk.</a:t>
            </a:r>
          </a:p>
        </p:txBody>
      </p:sp>
      <p:sp>
        <p:nvSpPr>
          <p:cNvPr id="14" name="Text Box 9"/>
          <p:cNvSpPr txBox="1"/>
          <p:nvPr/>
        </p:nvSpPr>
        <p:spPr>
          <a:xfrm>
            <a:off x="1397000" y="3937000"/>
            <a:ext cx="7112000" cy="381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800" b="0" i="0" u="none">
                <a:solidFill>
                  <a:srgbClr val="1B2838"/>
                </a:solidFill>
                <a:latin typeface="+mn-lt"/>
              </a:rPr>
              <a:t>Trends Show Direction</a:t>
            </a:r>
          </a:p>
        </p:txBody>
      </p:sp>
      <p:sp>
        <p:nvSpPr>
          <p:cNvPr id="15" name="Text Box 10"/>
          <p:cNvSpPr txBox="1"/>
          <p:nvPr/>
        </p:nvSpPr>
        <p:spPr>
          <a:xfrm>
            <a:off x="1397000" y="4343400"/>
            <a:ext cx="7112000" cy="355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4A5568"/>
                </a:solidFill>
                <a:latin typeface="+mn-lt"/>
              </a:rPr>
              <a:t>A country's crime rate matters less than whether it's rising or falling.</a:t>
            </a:r>
          </a:p>
        </p:txBody>
      </p:sp>
      <p:sp>
        <p:nvSpPr>
          <p:cNvPr id="16" name="Text Box 11"/>
          <p:cNvSpPr txBox="1"/>
          <p:nvPr/>
        </p:nvSpPr>
        <p:spPr>
          <a:xfrm>
            <a:off x="1397000" y="5207000"/>
            <a:ext cx="7112000" cy="381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800" b="0" i="0" u="none">
                <a:solidFill>
                  <a:srgbClr val="1B2838"/>
                </a:solidFill>
                <a:latin typeface="+mn-lt"/>
              </a:rPr>
              <a:t>Profiling Reveals the Truth</a:t>
            </a:r>
          </a:p>
        </p:txBody>
      </p:sp>
      <p:sp>
        <p:nvSpPr>
          <p:cNvPr id="17" name="Text Box 12"/>
          <p:cNvSpPr txBox="1"/>
          <p:nvPr/>
        </p:nvSpPr>
        <p:spPr>
          <a:xfrm>
            <a:off x="1397000" y="5613400"/>
            <a:ext cx="7112000" cy="355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4A5568"/>
                </a:solidFill>
                <a:latin typeface="+mn-lt"/>
              </a:rPr>
              <a:t>Combining risk level with trend direction creates a far clearer safety picture.</a:t>
            </a:r>
          </a:p>
        </p:txBody>
      </p:sp>
      <p:cxnSp>
        <p:nvCxnSpPr>
          <p:cNvPr id="18" name="Connector 1"/>
          <p:cNvCxnSpPr/>
          <p:nvPr/>
        </p:nvCxnSpPr>
        <p:spPr>
          <a:xfrm>
            <a:off x="635000" y="2413000"/>
            <a:ext cx="7874000" cy="0"/>
          </a:xfrm>
          <a:prstGeom prst="line">
            <a:avLst/>
          </a:prstGeom>
          <a:ln w="6350">
            <a:solidFill>
              <a:srgbClr val="D6CFC7"/>
            </a:solidFill>
          </a:ln>
        </p:spPr>
      </p:cxnSp>
      <p:cxnSp>
        <p:nvCxnSpPr>
          <p:cNvPr id="19" name="Connector 2"/>
          <p:cNvCxnSpPr/>
          <p:nvPr/>
        </p:nvCxnSpPr>
        <p:spPr>
          <a:xfrm>
            <a:off x="635000" y="3683000"/>
            <a:ext cx="7874000" cy="0"/>
          </a:xfrm>
          <a:prstGeom prst="line">
            <a:avLst/>
          </a:prstGeom>
          <a:ln w="6350">
            <a:solidFill>
              <a:srgbClr val="D6CFC7"/>
            </a:solidFill>
          </a:ln>
        </p:spPr>
      </p:cxnSp>
      <p:cxnSp>
        <p:nvCxnSpPr>
          <p:cNvPr id="20" name="Connector 3"/>
          <p:cNvCxnSpPr/>
          <p:nvPr/>
        </p:nvCxnSpPr>
        <p:spPr>
          <a:xfrm>
            <a:off x="635000" y="4953000"/>
            <a:ext cx="7874000" cy="0"/>
          </a:xfrm>
          <a:prstGeom prst="line">
            <a:avLst/>
          </a:prstGeom>
          <a:ln w="6350">
            <a:solidFill>
              <a:srgbClr val="D6CFC7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016000" y="1778000"/>
            <a:ext cx="7112000" cy="20320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</a:pPr>
            <a:r>
              <a:rPr lang="en-US" sz="2600" b="0" i="0" u="none">
                <a:solidFill>
                  <a:srgbClr val="1B2838"/>
                </a:solidFill>
                <a:latin typeface="+mj-lt"/>
              </a:rPr>
              <a:t>The real question isn't which country is most dangerous — it's how we choose to measure danger.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270000" y="4191000"/>
            <a:ext cx="6604000" cy="762000"/>
          </a:xfrm>
          <a:prstGeom prst="rect">
            <a:avLst/>
          </a:prstGeom>
        </p:spPr>
        <p:txBody>
          <a:bodyPr anchor="t"/>
          <a:lstStyle/>
          <a:p>
            <a:pPr algn="ctr">
              <a:buNone/>
            </a:pPr>
            <a:r>
              <a:rPr lang="en-US" sz="1600" b="0" i="0" u="none" dirty="0">
                <a:solidFill>
                  <a:srgbClr val="4A5568"/>
                </a:solidFill>
                <a:latin typeface="+mn-lt"/>
              </a:rPr>
              <a:t>Rankings simplify. Profiling illuminates. The data tells a richer story when we ask better questions.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540000" y="6096000"/>
            <a:ext cx="4064000" cy="3175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</a:pPr>
            <a:r>
              <a:rPr lang="en-US" sz="900" b="0" i="0" u="none">
                <a:solidFill>
                  <a:srgbClr val="8B9AAF"/>
                </a:solidFill>
              </a:rPr>
              <a:t>Based on Eurostat Crime Statistics · 2014–2023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18000" cy="6858000"/>
          </a:xfrm>
          <a:prstGeom prst="rect">
            <a:avLst/>
          </a:prstGeom>
          <a:solidFill>
            <a:srgbClr val="EDE8E1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3" name="Text Box 1"/>
          <p:cNvSpPr txBox="1"/>
          <p:nvPr/>
        </p:nvSpPr>
        <p:spPr>
          <a:xfrm>
            <a:off x="508000" y="762000"/>
            <a:ext cx="3302000" cy="381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400" b="0" i="0" u="none" dirty="0">
                <a:solidFill>
                  <a:srgbClr val="8B7E6E"/>
                </a:solidFill>
                <a:latin typeface="Calibri"/>
              </a:rPr>
              <a:t>LICENSE</a:t>
            </a:r>
          </a:p>
        </p:txBody>
      </p:sp>
      <p:sp>
        <p:nvSpPr>
          <p:cNvPr id="4" name="Text Box 2"/>
          <p:cNvSpPr txBox="1"/>
          <p:nvPr/>
        </p:nvSpPr>
        <p:spPr>
          <a:xfrm>
            <a:off x="4826000" y="762000"/>
            <a:ext cx="3810000" cy="381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000" b="1" i="0" u="none" dirty="0">
                <a:solidFill>
                  <a:srgbClr val="8B7E6E"/>
                </a:solidFill>
                <a:latin typeface="Calibri"/>
              </a:rPr>
              <a:t>SOURCES &amp; TOOLS</a:t>
            </a:r>
          </a:p>
        </p:txBody>
      </p:sp>
      <p:sp>
        <p:nvSpPr>
          <p:cNvPr id="5" name="Text Box 3"/>
          <p:cNvSpPr txBox="1"/>
          <p:nvPr/>
        </p:nvSpPr>
        <p:spPr>
          <a:xfrm>
            <a:off x="508000" y="1333500"/>
            <a:ext cx="3302000" cy="4445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000" b="0" i="0" u="none">
                <a:solidFill>
                  <a:srgbClr val="1B2838"/>
                </a:solidFill>
                <a:latin typeface="Calibri Light"/>
              </a:rPr>
              <a:t>© Victoria Bassey, 2026</a:t>
            </a:r>
          </a:p>
        </p:txBody>
      </p:sp>
      <p:sp>
        <p:nvSpPr>
          <p:cNvPr id="6" name="Text Box 4"/>
          <p:cNvSpPr txBox="1"/>
          <p:nvPr/>
        </p:nvSpPr>
        <p:spPr>
          <a:xfrm>
            <a:off x="508000" y="1968500"/>
            <a:ext cx="3302000" cy="1397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4A5568"/>
                </a:solidFill>
                <a:latin typeface="Calibri"/>
              </a:rPr>
              <a:t>Licensed under</a:t>
            </a:r>
          </a:p>
          <a:p>
            <a:pPr>
              <a:buNone/>
            </a:pPr>
            <a:r>
              <a:rPr lang="en-US" sz="1200" b="1" i="0" u="none">
                <a:solidFill>
                  <a:srgbClr val="4A5568"/>
                </a:solidFill>
                <a:latin typeface="Calibri"/>
              </a:rPr>
              <a:t>CC BY-NC-SA 4.0</a:t>
            </a:r>
          </a:p>
          <a:p>
            <a:pPr>
              <a:buNone/>
            </a:pPr>
            <a:endParaRPr lang="en-US" sz="1200" b="1" i="0" u="none">
              <a:solidFill>
                <a:srgbClr val="4A5568"/>
              </a:solidFill>
              <a:latin typeface="Calibri"/>
            </a:endParaRPr>
          </a:p>
          <a:p>
            <a:pPr>
              <a:buNone/>
            </a:pPr>
            <a:r>
              <a:rPr lang="en-US" sz="1200" b="0" i="0" u="none">
                <a:solidFill>
                  <a:srgbClr val="4A5568"/>
                </a:solidFill>
                <a:latin typeface="Calibri"/>
              </a:rPr>
              <a:t>Creative Commons</a:t>
            </a:r>
          </a:p>
          <a:p>
            <a:pPr>
              <a:buNone/>
            </a:pPr>
            <a:r>
              <a:rPr lang="en-US" sz="1200" b="0" i="0" u="none">
                <a:solidFill>
                  <a:srgbClr val="4A5568"/>
                </a:solidFill>
                <a:latin typeface="Calibri"/>
              </a:rPr>
              <a:t>Attribution-NonCommercial-ShareAlike</a:t>
            </a:r>
          </a:p>
          <a:p>
            <a:pPr>
              <a:buNone/>
            </a:pPr>
            <a:r>
              <a:rPr lang="en-US" sz="1200" b="0" i="0" u="none">
                <a:solidFill>
                  <a:srgbClr val="4A5568"/>
                </a:solidFill>
                <a:latin typeface="Calibri"/>
              </a:rPr>
              <a:t>4.0 International</a:t>
            </a:r>
          </a:p>
        </p:txBody>
      </p:sp>
      <p:sp>
        <p:nvSpPr>
          <p:cNvPr id="7" name="Text Box 5"/>
          <p:cNvSpPr txBox="1"/>
          <p:nvPr/>
        </p:nvSpPr>
        <p:spPr>
          <a:xfrm>
            <a:off x="508000" y="3492500"/>
            <a:ext cx="3556000" cy="381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900" b="0" i="0" u="none">
                <a:solidFill>
                  <a:srgbClr val="0563C1"/>
                </a:solidFill>
                <a:latin typeface="Calibri"/>
              </a:rPr>
              <a:t>https://creativecommons.org/licenses/by-nc-sa/4.0/</a:t>
            </a:r>
          </a:p>
        </p:txBody>
      </p:sp>
      <p:sp>
        <p:nvSpPr>
          <p:cNvPr id="8" name="Text Box 6"/>
          <p:cNvSpPr txBox="1"/>
          <p:nvPr/>
        </p:nvSpPr>
        <p:spPr>
          <a:xfrm>
            <a:off x="4826000" y="1333500"/>
            <a:ext cx="3810000" cy="8255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1" i="0" u="none">
                <a:solidFill>
                  <a:srgbClr val="1B2838"/>
                </a:solidFill>
                <a:latin typeface="Calibri"/>
              </a:rPr>
              <a:t>Data Source</a:t>
            </a:r>
          </a:p>
          <a:p>
            <a:pPr>
              <a:buNone/>
            </a:pPr>
            <a:r>
              <a:rPr lang="en-US" sz="1200" b="0" i="0" u="none">
                <a:solidFill>
                  <a:srgbClr val="4A5568"/>
                </a:solidFill>
                <a:latin typeface="Calibri"/>
              </a:rPr>
              <a:t>Eurostat – Crime Statistics (2014–2023)</a:t>
            </a:r>
          </a:p>
          <a:p>
            <a:pPr>
              <a:buNone/>
            </a:pPr>
            <a:r>
              <a:rPr lang="en-US" sz="1200" b="0" i="0" u="none">
                <a:solidFill>
                  <a:srgbClr val="4A5568"/>
                </a:solidFill>
                <a:latin typeface="Calibri"/>
              </a:rPr>
              <a:t>© European Union</a:t>
            </a:r>
          </a:p>
        </p:txBody>
      </p:sp>
      <p:sp>
        <p:nvSpPr>
          <p:cNvPr id="9" name="Text Box 7"/>
          <p:cNvSpPr txBox="1"/>
          <p:nvPr/>
        </p:nvSpPr>
        <p:spPr>
          <a:xfrm>
            <a:off x="4826000" y="2349500"/>
            <a:ext cx="3810000" cy="8255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1" i="0" u="none">
                <a:solidFill>
                  <a:srgbClr val="1B2838"/>
                </a:solidFill>
                <a:latin typeface="Calibri"/>
              </a:rPr>
              <a:t>Charts &amp; Visualizations</a:t>
            </a:r>
          </a:p>
          <a:p>
            <a:pPr>
              <a:buNone/>
            </a:pPr>
            <a:r>
              <a:rPr lang="en-US" sz="1200" b="0" i="0" u="none">
                <a:solidFill>
                  <a:srgbClr val="1B2838"/>
                </a:solidFill>
                <a:latin typeface="Calibri"/>
              </a:rPr>
              <a:t>Analysis and visualizations created with Python, pandas, and Matplotlib</a:t>
            </a:r>
          </a:p>
        </p:txBody>
      </p:sp>
      <p:sp>
        <p:nvSpPr>
          <p:cNvPr id="10" name="Text Box 8"/>
          <p:cNvSpPr txBox="1"/>
          <p:nvPr/>
        </p:nvSpPr>
        <p:spPr>
          <a:xfrm>
            <a:off x="4826000" y="3365500"/>
            <a:ext cx="3810000" cy="8255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1" i="0" u="none" dirty="0">
                <a:solidFill>
                  <a:srgbClr val="1B2838"/>
                </a:solidFill>
                <a:latin typeface="Calibri"/>
              </a:rPr>
              <a:t>Backgrounds &amp; Design</a:t>
            </a:r>
          </a:p>
          <a:p>
            <a:pPr>
              <a:buNone/>
            </a:pPr>
            <a:r>
              <a:rPr lang="en-US" sz="1200" b="0" i="0" u="none" dirty="0">
                <a:solidFill>
                  <a:srgbClr val="1B2838"/>
                </a:solidFill>
                <a:latin typeface="Calibri"/>
              </a:rPr>
              <a:t>Background visuals on Slide 1 was created using  CANVA AI, used under CANVA’s content license for non- commercial and educational purposes.</a:t>
            </a:r>
          </a:p>
        </p:txBody>
      </p:sp>
      <p:sp>
        <p:nvSpPr>
          <p:cNvPr id="11" name="Text Box 9"/>
          <p:cNvSpPr txBox="1"/>
          <p:nvPr/>
        </p:nvSpPr>
        <p:spPr>
          <a:xfrm>
            <a:off x="4826000" y="4381500"/>
            <a:ext cx="3810000" cy="6985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000" b="1" i="0" u="none">
                <a:solidFill>
                  <a:srgbClr val="1B2838"/>
                </a:solidFill>
                <a:latin typeface="Calibri"/>
              </a:rPr>
              <a:t>Presentation Link</a:t>
            </a:r>
          </a:p>
          <a:p>
            <a:pPr>
              <a:buNone/>
            </a:pPr>
            <a:r>
              <a:rPr lang="en-US" sz="1000" b="0" i="0" u="none">
                <a:solidFill>
                  <a:srgbClr val="0563C1"/>
                </a:solidFill>
                <a:latin typeface="Calibri"/>
              </a:rPr>
              <a:t>https://1drv.ms/p/c/36ddee6aaed672d5/IQCdr8baUq1hQL1mLXWhQzrMAQMMKTlaim71dO21X1jvrl8</a:t>
            </a:r>
          </a:p>
        </p:txBody>
      </p:sp>
      <p:pic>
        <p:nvPicPr>
          <p:cNvPr id="1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207000"/>
            <a:ext cx="635000" cy="635000"/>
          </a:xfrm>
          <a:prstGeom prst="rect">
            <a:avLst/>
          </a:prstGeom>
        </p:spPr>
      </p:pic>
      <p:sp>
        <p:nvSpPr>
          <p:cNvPr id="13" name="Text Box 10"/>
          <p:cNvSpPr txBox="1"/>
          <p:nvPr/>
        </p:nvSpPr>
        <p:spPr>
          <a:xfrm>
            <a:off x="0" y="6350000"/>
            <a:ext cx="9144000" cy="3175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US" sz="900" b="0" i="0" u="none">
                <a:solidFill>
                  <a:srgbClr val="B0A898"/>
                </a:solidFill>
                <a:latin typeface="Calibri Light"/>
              </a:rPr>
              <a:t>Sources &amp; Attribution</a:t>
            </a:r>
          </a:p>
        </p:txBody>
      </p:sp>
    </p:spTree>
    <p:extLst>
      <p:ext uri="{BB962C8B-B14F-4D97-AF65-F5344CB8AC3E}">
        <p14:creationId xmlns:p14="http://schemas.microsoft.com/office/powerpoint/2010/main" val="190147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6F7C5D-15C7-4DF8-BD27-ACCDDBF8F867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2355</TotalTime>
  <Words>825</Words>
  <Application>Microsoft Office PowerPoint</Application>
  <PresentationFormat>On-screen Show (4:3)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The Questions That Matter</vt:lpstr>
      <vt:lpstr>PowerPoint Presentation</vt:lpstr>
      <vt:lpstr>PowerPoint Presentation</vt:lpstr>
      <vt:lpstr>The Ranking Illusion</vt:lpstr>
      <vt:lpstr>The Population Effect</vt:lpstr>
      <vt:lpstr>The Trend Factor</vt:lpstr>
      <vt:lpstr>The Data Has Blind Spots</vt:lpstr>
      <vt:lpstr>Beyond the Rankings</vt:lpstr>
      <vt:lpstr>What the Data Really Shows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Victoria Okure</cp:lastModifiedBy>
  <cp:revision>587</cp:revision>
  <dcterms:created xsi:type="dcterms:W3CDTF">2013-01-27T09:14:16Z</dcterms:created>
  <dcterms:modified xsi:type="dcterms:W3CDTF">2026-04-14T14:17:44Z</dcterms:modified>
  <cp:category/>
</cp:coreProperties>
</file>